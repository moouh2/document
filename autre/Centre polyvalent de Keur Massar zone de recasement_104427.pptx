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4" r:id="rId5"/>
    <p:sldId id="262" r:id="rId6"/>
    <p:sldId id="266" r:id="rId7"/>
    <p:sldId id="265" r:id="rId8"/>
    <p:sldId id="263" r:id="rId9"/>
    <p:sldId id="267" r:id="rId10"/>
    <p:sldId id="268" r:id="rId11"/>
    <p:sldId id="259" r:id="rId12"/>
    <p:sldId id="260"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fr-FR"/>
              <a:t>Modifiez le style du titre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8/26/2025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‹N°›</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fr-FR"/>
              <a:t>Modifiez le style du titre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908A7C6C-0F39-4D70-8E8D-FE5B9C95FA73}" type="datetimeFigureOut">
              <a:rPr lang="en-US" dirty="0"/>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fr-FR"/>
              <a:t>Modifier les styles du texte du masque</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8/26/2025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8/26/2025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8/26/2025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fr-FR"/>
              <a:t>Modifiez le style du titre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6F53789A-C914-4DB1-8815-80B5EC7335C5}" type="datetimeFigureOut">
              <a:rPr lang="en-US" dirty="0"/>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5E6440AA-91A0-436F-8FDB-C0F939DCAE21}" type="datetimeFigureOut">
              <a:rPr lang="en-US" dirty="0"/>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8/26/2025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309489" y="1505243"/>
            <a:ext cx="11577711" cy="3488787"/>
          </a:xfrm>
        </p:spPr>
        <p:txBody>
          <a:bodyPr anchor="ctr">
            <a:noAutofit/>
          </a:bodyPr>
          <a:lstStyle/>
          <a:p>
            <a:pPr algn="ctr">
              <a:lnSpc>
                <a:spcPct val="200000"/>
              </a:lnSpc>
            </a:pPr>
            <a:r>
              <a:rPr lang="fr-FR" sz="6600" dirty="0">
                <a:solidFill>
                  <a:schemeClr val="bg1"/>
                </a:solidFill>
                <a:latin typeface="Times New Roman" panose="02020603050405020304" pitchFamily="18" charset="0"/>
                <a:cs typeface="Times New Roman" panose="02020603050405020304" pitchFamily="18" charset="0"/>
              </a:rPr>
              <a:t>Centre</a:t>
            </a:r>
            <a:r>
              <a:rPr lang="fr-FR" sz="6600" dirty="0">
                <a:latin typeface="Times New Roman" panose="02020603050405020304" pitchFamily="18" charset="0"/>
                <a:cs typeface="Times New Roman" panose="02020603050405020304" pitchFamily="18" charset="0"/>
              </a:rPr>
              <a:t> </a:t>
            </a:r>
            <a:r>
              <a:rPr lang="fr-FR" sz="6600" dirty="0">
                <a:solidFill>
                  <a:schemeClr val="bg1"/>
                </a:solidFill>
                <a:latin typeface="Times New Roman" panose="02020603050405020304" pitchFamily="18" charset="0"/>
                <a:cs typeface="Times New Roman" panose="02020603050405020304" pitchFamily="18" charset="0"/>
              </a:rPr>
              <a:t>polyvalent de Keur Massar Zone de recasement </a:t>
            </a: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Tree>
    <p:extLst>
      <p:ext uri="{BB962C8B-B14F-4D97-AF65-F5344CB8AC3E}">
        <p14:creationId xmlns:p14="http://schemas.microsoft.com/office/powerpoint/2010/main" val="260752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614289" y="1378634"/>
            <a:ext cx="11577711" cy="4656406"/>
          </a:xfrm>
        </p:spPr>
        <p:txBody>
          <a:bodyPr anchor="ctr">
            <a:noAutofit/>
          </a:bodyPr>
          <a:lstStyle/>
          <a:p>
            <a:r>
              <a:rPr lang="fr-FR" sz="2400" dirty="0">
                <a:solidFill>
                  <a:schemeClr val="bg1"/>
                </a:solidFill>
              </a:rPr>
              <a:t>Une liste de trois centres nous a été fournie:</a:t>
            </a:r>
            <a:br>
              <a:rPr lang="fr-FR" sz="2400" dirty="0">
                <a:solidFill>
                  <a:schemeClr val="bg1"/>
                </a:solidFill>
              </a:rPr>
            </a:br>
            <a:r>
              <a:rPr lang="fr-FR" sz="2400" dirty="0">
                <a:solidFill>
                  <a:schemeClr val="bg1"/>
                </a:solidFill>
              </a:rPr>
              <a:t/>
            </a:r>
            <a:br>
              <a:rPr lang="fr-FR" sz="2400" dirty="0">
                <a:solidFill>
                  <a:schemeClr val="bg1"/>
                </a:solidFill>
              </a:rPr>
            </a:br>
            <a:r>
              <a:rPr lang="fr-FR" sz="2400" dirty="0">
                <a:solidFill>
                  <a:schemeClr val="bg1"/>
                </a:solidFill>
              </a:rPr>
              <a:t>- Le CPRS (100 personnes) de Keur Massar (on y était en 2024 dans le cadre NDMC avec des enfants orphelins et handicapés)</a:t>
            </a:r>
            <a:br>
              <a:rPr lang="fr-FR" sz="2400" dirty="0">
                <a:solidFill>
                  <a:schemeClr val="bg1"/>
                </a:solidFill>
              </a:rPr>
            </a:br>
            <a:r>
              <a:rPr lang="fr-FR" sz="2400" dirty="0">
                <a:solidFill>
                  <a:schemeClr val="bg1"/>
                </a:solidFill>
              </a:rPr>
              <a:t>- Le centre polyvalent (50 personnes) de la zone de recasement à Keur Massar</a:t>
            </a:r>
            <a:br>
              <a:rPr lang="fr-FR" sz="2400" dirty="0">
                <a:solidFill>
                  <a:schemeClr val="bg1"/>
                </a:solidFill>
              </a:rPr>
            </a:br>
            <a:r>
              <a:rPr lang="fr-FR" sz="2400" dirty="0">
                <a:solidFill>
                  <a:schemeClr val="bg1"/>
                </a:solidFill>
              </a:rPr>
              <a:t>- Le Service départemental de l’action sociale (50 personnes) à Keur Massar</a:t>
            </a:r>
            <a:br>
              <a:rPr lang="fr-FR" sz="2400" dirty="0">
                <a:solidFill>
                  <a:schemeClr val="bg1"/>
                </a:solidFill>
              </a:rPr>
            </a:br>
            <a:r>
              <a:rPr lang="fr-FR" sz="2400" dirty="0">
                <a:solidFill>
                  <a:schemeClr val="bg1"/>
                </a:solidFill>
              </a:rPr>
              <a:t/>
            </a:r>
            <a:br>
              <a:rPr lang="fr-FR" sz="2400" dirty="0">
                <a:solidFill>
                  <a:schemeClr val="bg1"/>
                </a:solidFill>
              </a:rPr>
            </a:br>
            <a:r>
              <a:rPr lang="fr-FR" sz="2400" dirty="0">
                <a:solidFill>
                  <a:schemeClr val="bg1"/>
                </a:solidFill>
              </a:rPr>
              <a:t>Nous portons notre choix cette année sur le centre polyvalent.</a:t>
            </a:r>
            <a:br>
              <a:rPr lang="fr-FR" sz="2400" dirty="0">
                <a:solidFill>
                  <a:schemeClr val="bg1"/>
                </a:solidFill>
              </a:rPr>
            </a:br>
            <a:r>
              <a:rPr lang="fr-FR" sz="2400" dirty="0">
                <a:solidFill>
                  <a:schemeClr val="bg1"/>
                </a:solidFill>
              </a:rPr>
              <a:t> </a:t>
            </a:r>
            <a:br>
              <a:rPr lang="fr-FR" sz="2400" dirty="0">
                <a:solidFill>
                  <a:schemeClr val="bg1"/>
                </a:solidFill>
              </a:rPr>
            </a:br>
            <a:r>
              <a:rPr lang="fr-FR" sz="2400" dirty="0">
                <a:solidFill>
                  <a:schemeClr val="bg1"/>
                </a:solidFill>
              </a:rPr>
              <a:t>Nom du Contact : Cheikh Omar</a:t>
            </a:r>
            <a:br>
              <a:rPr lang="fr-FR" sz="2400" dirty="0">
                <a:solidFill>
                  <a:schemeClr val="bg1"/>
                </a:solidFill>
              </a:rPr>
            </a:br>
            <a:r>
              <a:rPr lang="fr-FR" sz="2400" dirty="0">
                <a:solidFill>
                  <a:schemeClr val="bg1"/>
                </a:solidFill>
              </a:rPr>
              <a:t>Fonction : Directeur Service Social Mairie de Keur </a:t>
            </a:r>
            <a:r>
              <a:rPr lang="fr-FR" sz="2400" dirty="0" err="1">
                <a:solidFill>
                  <a:schemeClr val="bg1"/>
                </a:solidFill>
              </a:rPr>
              <a:t>Massar</a:t>
            </a:r>
            <a:r>
              <a:rPr lang="fr-FR" sz="2400" dirty="0">
                <a:solidFill>
                  <a:schemeClr val="bg1"/>
                </a:solidFill>
              </a:rPr>
              <a:t> </a:t>
            </a:r>
            <a:r>
              <a:rPr lang="fr-FR" sz="2400" dirty="0" smtClean="0">
                <a:solidFill>
                  <a:schemeClr val="bg1"/>
                </a:solidFill>
              </a:rPr>
              <a:t>Nord</a:t>
            </a:r>
            <a:r>
              <a:rPr lang="fr-FR" sz="2400" dirty="0">
                <a:solidFill>
                  <a:schemeClr val="bg1"/>
                </a:solidFill>
              </a:rPr>
              <a:t/>
            </a:r>
            <a:br>
              <a:rPr lang="fr-FR" sz="2400" dirty="0">
                <a:solidFill>
                  <a:schemeClr val="bg1"/>
                </a:solidFill>
              </a:rPr>
            </a:br>
            <a:r>
              <a:rPr lang="fr-FR" sz="2400" dirty="0">
                <a:solidFill>
                  <a:schemeClr val="bg1"/>
                </a:solidFill>
              </a:rPr>
              <a:t>Téléphone : +221 78 529 36 </a:t>
            </a:r>
            <a:r>
              <a:rPr lang="fr-FR" sz="2400" dirty="0" smtClean="0">
                <a:solidFill>
                  <a:schemeClr val="bg1"/>
                </a:solidFill>
              </a:rPr>
              <a:t>67</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smtClean="0">
                <a:solidFill>
                  <a:schemeClr val="bg1"/>
                </a:solidFill>
              </a:rPr>
              <a:t>Nom de la directrice du Centre: Mme NDIAYE </a:t>
            </a:r>
            <a:r>
              <a:rPr lang="fr-FR" sz="2400" dirty="0" err="1" smtClean="0">
                <a:solidFill>
                  <a:schemeClr val="bg1"/>
                </a:solidFill>
              </a:rPr>
              <a:t>Astou</a:t>
            </a:r>
            <a:r>
              <a:rPr lang="fr-FR" sz="2400" dirty="0">
                <a:solidFill>
                  <a:schemeClr val="bg1"/>
                </a:solidFill>
              </a:rPr>
              <a:t/>
            </a:r>
            <a:br>
              <a:rPr lang="fr-FR" sz="2400" dirty="0">
                <a:solidFill>
                  <a:schemeClr val="bg1"/>
                </a:solidFill>
              </a:rPr>
            </a:br>
            <a:endParaRPr lang="fr-FR" sz="2400" dirty="0">
              <a:solidFill>
                <a:schemeClr val="bg1"/>
              </a:solidFill>
            </a:endParaRP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5226149" y="140677"/>
            <a:ext cx="3200400" cy="112541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200" b="1" u="sng" dirty="0">
                <a:solidFill>
                  <a:schemeClr val="bg1"/>
                </a:solidFill>
              </a:rPr>
              <a:t>Information</a:t>
            </a:r>
            <a:br>
              <a:rPr lang="fr-FR" sz="3200" b="1" u="sng" dirty="0">
                <a:solidFill>
                  <a:schemeClr val="bg1"/>
                </a:solidFill>
              </a:rPr>
            </a:br>
            <a:r>
              <a:rPr lang="fr-FR" sz="3200" dirty="0"/>
              <a:t/>
            </a:r>
            <a:br>
              <a:rPr lang="fr-FR" sz="3200" dirty="0"/>
            </a:br>
            <a:r>
              <a:rPr lang="fr-FR" sz="2200" dirty="0"/>
              <a:t/>
            </a:r>
            <a:br>
              <a:rPr lang="fr-FR" sz="2200" dirty="0"/>
            </a:br>
            <a:endParaRPr lang="fr-FR" sz="1000" dirty="0"/>
          </a:p>
        </p:txBody>
      </p:sp>
    </p:spTree>
    <p:extLst>
      <p:ext uri="{BB962C8B-B14F-4D97-AF65-F5344CB8AC3E}">
        <p14:creationId xmlns:p14="http://schemas.microsoft.com/office/powerpoint/2010/main" val="3884429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492369" y="1349795"/>
            <a:ext cx="11577711" cy="4295631"/>
          </a:xfrm>
        </p:spPr>
        <p:txBody>
          <a:bodyPr anchor="ctr">
            <a:noAutofit/>
          </a:bodyPr>
          <a:lstStyle/>
          <a:p>
            <a:r>
              <a:rPr lang="fr-FR" sz="2400" dirty="0" smtClean="0">
                <a:solidFill>
                  <a:schemeClr val="bg1"/>
                </a:solidFill>
              </a:rPr>
              <a:t>	Le </a:t>
            </a:r>
            <a:r>
              <a:rPr lang="fr-FR" sz="2400" dirty="0">
                <a:solidFill>
                  <a:schemeClr val="bg1"/>
                </a:solidFill>
              </a:rPr>
              <a:t>Centre polyvalent de </a:t>
            </a:r>
            <a:r>
              <a:rPr lang="fr-FR" sz="2400" dirty="0" err="1">
                <a:solidFill>
                  <a:schemeClr val="bg1"/>
                </a:solidFill>
              </a:rPr>
              <a:t>Keur</a:t>
            </a:r>
            <a:r>
              <a:rPr lang="fr-FR" sz="2400" dirty="0">
                <a:solidFill>
                  <a:schemeClr val="bg1"/>
                </a:solidFill>
              </a:rPr>
              <a:t> </a:t>
            </a:r>
            <a:r>
              <a:rPr lang="fr-FR" sz="2400" dirty="0" err="1">
                <a:solidFill>
                  <a:schemeClr val="bg1"/>
                </a:solidFill>
              </a:rPr>
              <a:t>Massar</a:t>
            </a:r>
            <a:r>
              <a:rPr lang="fr-FR" sz="2400" dirty="0">
                <a:solidFill>
                  <a:schemeClr val="bg1"/>
                </a:solidFill>
              </a:rPr>
              <a:t>, situé dans la zone de recasement est un centre communautaire qui joue un rôle clé dans le développement social et économique de la région, axée sur la formation professionnelle et le développement socio-économique</a:t>
            </a:r>
            <a:r>
              <a:rPr lang="fr-FR" sz="2400" dirty="0" smtClean="0">
                <a:solidFill>
                  <a:schemeClr val="bg1"/>
                </a:solidFill>
              </a:rPr>
              <a:t>. </a:t>
            </a:r>
            <a:r>
              <a:rPr lang="fr-FR" sz="2400" dirty="0">
                <a:solidFill>
                  <a:schemeClr val="bg1"/>
                </a:solidFill>
              </a:rPr>
              <a:t>I</a:t>
            </a:r>
            <a:r>
              <a:rPr lang="fr-FR" sz="2400" dirty="0" smtClean="0">
                <a:solidFill>
                  <a:schemeClr val="bg1"/>
                </a:solidFill>
              </a:rPr>
              <a:t>l a été créée par des italiens.</a:t>
            </a:r>
            <a:br>
              <a:rPr lang="fr-FR" sz="2400" dirty="0" smtClean="0">
                <a:solidFill>
                  <a:schemeClr val="bg1"/>
                </a:solidFill>
              </a:rPr>
            </a:br>
            <a:r>
              <a:rPr lang="fr-FR" sz="2400" dirty="0" smtClean="0">
                <a:solidFill>
                  <a:schemeClr val="bg1"/>
                </a:solidFill>
              </a:rPr>
              <a:t>	Les principales formations professionnelles sont: La couture, la restaurations, coiffure et informatique.</a:t>
            </a:r>
            <a:br>
              <a:rPr lang="fr-FR" sz="2400" dirty="0" smtClean="0">
                <a:solidFill>
                  <a:schemeClr val="bg1"/>
                </a:solidFill>
              </a:rPr>
            </a:br>
            <a:r>
              <a:rPr lang="fr-FR" sz="2400" dirty="0" smtClean="0">
                <a:solidFill>
                  <a:schemeClr val="bg1"/>
                </a:solidFill>
              </a:rPr>
              <a:t>	</a:t>
            </a:r>
            <a:r>
              <a:rPr lang="fr-FR" sz="2400" dirty="0" smtClean="0">
                <a:solidFill>
                  <a:schemeClr val="bg1"/>
                </a:solidFill>
              </a:rPr>
              <a:t>Il a trois sections: Petite section (de 3 à 5ans), </a:t>
            </a:r>
            <a:r>
              <a:rPr lang="fr-FR" sz="2400" dirty="0">
                <a:solidFill>
                  <a:schemeClr val="bg1"/>
                </a:solidFill>
              </a:rPr>
              <a:t>M</a:t>
            </a:r>
            <a:r>
              <a:rPr lang="fr-FR" sz="2400" dirty="0" smtClean="0">
                <a:solidFill>
                  <a:schemeClr val="bg1"/>
                </a:solidFill>
              </a:rPr>
              <a:t>oyen section (de 6 à 14 ans) et Grande section (de 15 ans jusqu’en montant).</a:t>
            </a:r>
            <a:r>
              <a:rPr lang="fr-FR" sz="2400" dirty="0" smtClean="0">
                <a:solidFill>
                  <a:schemeClr val="bg1"/>
                </a:solidFill>
              </a:rPr>
              <a:t/>
            </a:r>
            <a:br>
              <a:rPr lang="fr-FR" sz="2400" dirty="0" smtClean="0">
                <a:solidFill>
                  <a:schemeClr val="bg1"/>
                </a:solidFill>
              </a:rPr>
            </a:br>
            <a:r>
              <a:rPr lang="fr-FR" sz="2400" dirty="0" smtClean="0">
                <a:solidFill>
                  <a:schemeClr val="bg1"/>
                </a:solidFill>
              </a:rPr>
              <a:t>	</a:t>
            </a:r>
            <a:r>
              <a:rPr lang="fr-FR" sz="2400" dirty="0" smtClean="0">
                <a:solidFill>
                  <a:schemeClr val="bg1"/>
                </a:solidFill>
              </a:rPr>
              <a:t>Il accueil des orphelins, ceux qui sont en difficultés financières, ceux qui ont été abandonnés et ceux qui ont des parents. Et il dispose de  6 salles dont trois grandes et d’une cuisine pour les repas.</a:t>
            </a:r>
            <a:r>
              <a:rPr lang="fr-FR" sz="2400" dirty="0">
                <a:solidFill>
                  <a:schemeClr val="bg1"/>
                </a:solidFill>
              </a:rPr>
              <a:t/>
            </a:r>
            <a:br>
              <a:rPr lang="fr-FR" sz="2400" dirty="0">
                <a:solidFill>
                  <a:schemeClr val="bg1"/>
                </a:solidFill>
              </a:rPr>
            </a:br>
            <a:r>
              <a:rPr lang="fr-FR" sz="3200" b="1" dirty="0">
                <a:solidFill>
                  <a:schemeClr val="bg1"/>
                </a:solidFill>
              </a:rPr>
              <a:t/>
            </a:r>
            <a:br>
              <a:rPr lang="fr-FR" sz="3200" b="1" dirty="0">
                <a:solidFill>
                  <a:schemeClr val="bg1"/>
                </a:solidFill>
              </a:rPr>
            </a:br>
            <a:endParaRPr lang="fr-FR" sz="1000" dirty="0"/>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2307102" y="224379"/>
            <a:ext cx="8876713" cy="1125416"/>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600" b="1" u="sng" dirty="0">
                <a:solidFill>
                  <a:schemeClr val="bg1"/>
                </a:solidFill>
              </a:rPr>
              <a:t>Informations sur le centre choisi :</a:t>
            </a:r>
          </a:p>
          <a:p>
            <a:r>
              <a:rPr lang="fr-FR" sz="1600" b="1" u="sng" dirty="0"/>
              <a:t/>
            </a:r>
            <a:br>
              <a:rPr lang="fr-FR" sz="1600" b="1" u="sng" dirty="0"/>
            </a:br>
            <a:r>
              <a:rPr lang="fr-FR" sz="1600" dirty="0"/>
              <a:t/>
            </a:r>
            <a:br>
              <a:rPr lang="fr-FR" sz="1600" dirty="0"/>
            </a:br>
            <a:r>
              <a:rPr lang="fr-FR" sz="1100" dirty="0"/>
              <a:t/>
            </a:r>
            <a:br>
              <a:rPr lang="fr-FR" sz="1100" dirty="0"/>
            </a:br>
            <a:endParaRPr lang="fr-FR" sz="600" dirty="0"/>
          </a:p>
        </p:txBody>
      </p:sp>
    </p:spTree>
    <p:extLst>
      <p:ext uri="{BB962C8B-B14F-4D97-AF65-F5344CB8AC3E}">
        <p14:creationId xmlns:p14="http://schemas.microsoft.com/office/powerpoint/2010/main" val="518677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614289" y="1457738"/>
            <a:ext cx="11577711" cy="3086034"/>
          </a:xfrm>
        </p:spPr>
        <p:txBody>
          <a:bodyPr anchor="ctr">
            <a:noAutofit/>
          </a:bodyPr>
          <a:lstStyle/>
          <a:p>
            <a:r>
              <a:rPr lang="fr-FR" sz="3200" b="1" dirty="0" smtClean="0">
                <a:solidFill>
                  <a:schemeClr val="bg1"/>
                </a:solidFill>
              </a:rPr>
              <a:t>Nos </a:t>
            </a:r>
            <a:r>
              <a:rPr lang="fr-FR" sz="3200" b="1" dirty="0">
                <a:solidFill>
                  <a:schemeClr val="bg1"/>
                </a:solidFill>
              </a:rPr>
              <a:t>cibles: </a:t>
            </a:r>
            <a:r>
              <a:rPr lang="fr-FR" sz="3200" dirty="0">
                <a:solidFill>
                  <a:schemeClr val="bg1"/>
                </a:solidFill>
              </a:rPr>
              <a:t>les ados et les adultes soit en tout 50 personnes.</a:t>
            </a:r>
            <a:br>
              <a:rPr lang="fr-FR" sz="3200" dirty="0">
                <a:solidFill>
                  <a:schemeClr val="bg1"/>
                </a:solidFill>
              </a:rPr>
            </a:br>
            <a:r>
              <a:rPr lang="fr-FR" sz="3200" dirty="0">
                <a:solidFill>
                  <a:schemeClr val="bg1"/>
                </a:solidFill>
              </a:rPr>
              <a:t/>
            </a:r>
            <a:br>
              <a:rPr lang="fr-FR" sz="3200" dirty="0">
                <a:solidFill>
                  <a:schemeClr val="bg1"/>
                </a:solidFill>
              </a:rPr>
            </a:br>
            <a:r>
              <a:rPr lang="fr-FR" sz="3200" b="1" dirty="0">
                <a:solidFill>
                  <a:schemeClr val="bg1"/>
                </a:solidFill>
              </a:rPr>
              <a:t>Besoin exprimé en kit minimum/personne</a:t>
            </a:r>
            <a:r>
              <a:rPr lang="fr-FR" sz="3200" dirty="0">
                <a:solidFill>
                  <a:schemeClr val="bg1"/>
                </a:solidFill>
              </a:rPr>
              <a:t> : 1 sac de de riz de 25 kg, un bidon d’huile de 5 litres et 5 kg de </a:t>
            </a:r>
            <a:r>
              <a:rPr lang="fr-FR" sz="3200" dirty="0" smtClean="0">
                <a:solidFill>
                  <a:schemeClr val="bg1"/>
                </a:solidFill>
              </a:rPr>
              <a:t>sucre</a:t>
            </a:r>
            <a:br>
              <a:rPr lang="fr-FR" sz="3200" dirty="0" smtClean="0">
                <a:solidFill>
                  <a:schemeClr val="bg1"/>
                </a:solidFill>
              </a:rPr>
            </a:br>
            <a:r>
              <a:rPr lang="fr-FR" sz="3200" dirty="0">
                <a:solidFill>
                  <a:schemeClr val="bg1"/>
                </a:solidFill>
              </a:rPr>
              <a:t/>
            </a:r>
            <a:br>
              <a:rPr lang="fr-FR" sz="3200" dirty="0">
                <a:solidFill>
                  <a:schemeClr val="bg1"/>
                </a:solidFill>
              </a:rPr>
            </a:br>
            <a:r>
              <a:rPr lang="fr-FR" sz="3200" dirty="0" smtClean="0">
                <a:solidFill>
                  <a:schemeClr val="bg1"/>
                </a:solidFill>
              </a:rPr>
              <a:t>Date choisit: le 13 Décembre 2025 pour NDMC</a:t>
            </a:r>
            <a:r>
              <a:rPr lang="fr-FR" sz="3200" dirty="0"/>
              <a:t/>
            </a:r>
            <a:br>
              <a:rPr lang="fr-FR" sz="3200" dirty="0"/>
            </a:br>
            <a:endParaRPr lang="fr-FR" sz="1000" dirty="0"/>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2307102" y="224379"/>
            <a:ext cx="8876713" cy="1125416"/>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600" b="1" u="sng" dirty="0">
                <a:solidFill>
                  <a:schemeClr val="bg1"/>
                </a:solidFill>
              </a:rPr>
              <a:t>Informations sur le centre choisi :</a:t>
            </a:r>
          </a:p>
          <a:p>
            <a:r>
              <a:rPr lang="fr-FR" sz="1600" b="1" u="sng" dirty="0"/>
              <a:t/>
            </a:r>
            <a:br>
              <a:rPr lang="fr-FR" sz="1600" b="1" u="sng" dirty="0"/>
            </a:br>
            <a:r>
              <a:rPr lang="fr-FR" sz="1600" dirty="0"/>
              <a:t/>
            </a:r>
            <a:br>
              <a:rPr lang="fr-FR" sz="1600" dirty="0"/>
            </a:br>
            <a:r>
              <a:rPr lang="fr-FR" sz="1100" dirty="0"/>
              <a:t/>
            </a:r>
            <a:br>
              <a:rPr lang="fr-FR" sz="1100" dirty="0"/>
            </a:br>
            <a:endParaRPr lang="fr-FR" sz="600" dirty="0"/>
          </a:p>
        </p:txBody>
      </p:sp>
    </p:spTree>
    <p:extLst>
      <p:ext uri="{BB962C8B-B14F-4D97-AF65-F5344CB8AC3E}">
        <p14:creationId xmlns:p14="http://schemas.microsoft.com/office/powerpoint/2010/main" val="3975172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lang="fr-FR" sz="6600" dirty="0" smtClean="0">
                <a:solidFill>
                  <a:schemeClr val="bg1"/>
                </a:solidFill>
                <a:latin typeface="Times New Roman" panose="02020603050405020304" pitchFamily="18" charset="0"/>
                <a:cs typeface="Times New Roman" panose="02020603050405020304" pitchFamily="18" charset="0"/>
              </a:rPr>
              <a:t>Photo du Centre Polyvalent</a:t>
            </a:r>
            <a:endParaRPr sz="6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86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pic>
        <p:nvPicPr>
          <p:cNvPr id="9" name="Imag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19728" cy="3922643"/>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3757" y="0"/>
            <a:ext cx="4364382" cy="3922643"/>
          </a:xfrm>
          <a:prstGeom prst="rect">
            <a:avLst/>
          </a:prstGeom>
        </p:spPr>
      </p:pic>
      <p:pic>
        <p:nvPicPr>
          <p:cNvPr id="13" name="Imag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2169" y="0"/>
            <a:ext cx="3539832" cy="3922643"/>
          </a:xfrm>
          <a:prstGeom prst="rect">
            <a:avLst/>
          </a:prstGeom>
        </p:spPr>
      </p:pic>
      <p:pic>
        <p:nvPicPr>
          <p:cNvPr id="16" name="Imag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021117"/>
            <a:ext cx="2809461" cy="2836883"/>
          </a:xfrm>
          <a:prstGeom prst="rect">
            <a:avLst/>
          </a:prstGeom>
        </p:spPr>
      </p:pic>
      <p:pic>
        <p:nvPicPr>
          <p:cNvPr id="18" name="Imag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3719" y="3990101"/>
            <a:ext cx="2174185" cy="2898913"/>
          </a:xfrm>
          <a:prstGeom prst="rect">
            <a:avLst/>
          </a:prstGeom>
        </p:spPr>
      </p:pic>
      <p:pic>
        <p:nvPicPr>
          <p:cNvPr id="20" name="Imag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38179" y="3976756"/>
            <a:ext cx="2160933" cy="2881244"/>
          </a:xfrm>
          <a:prstGeom prst="rect">
            <a:avLst/>
          </a:prstGeom>
        </p:spPr>
      </p:pic>
      <p:pic>
        <p:nvPicPr>
          <p:cNvPr id="22" name="Image 2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31067" y="3976757"/>
            <a:ext cx="2160933" cy="2881243"/>
          </a:xfrm>
          <a:prstGeom prst="rect">
            <a:avLst/>
          </a:prstGeom>
        </p:spPr>
      </p:pic>
    </p:spTree>
    <p:extLst>
      <p:ext uri="{BB962C8B-B14F-4D97-AF65-F5344CB8AC3E}">
        <p14:creationId xmlns:p14="http://schemas.microsoft.com/office/powerpoint/2010/main" val="3019448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sz="6600" dirty="0">
                <a:solidFill>
                  <a:schemeClr val="bg1"/>
                </a:solidFill>
                <a:latin typeface="Times New Roman" panose="02020603050405020304" pitchFamily="18" charset="0"/>
                <a:cs typeface="Times New Roman" panose="02020603050405020304" pitchFamily="18" charset="0"/>
              </a:rPr>
              <a:t>Budget Don - Kit </a:t>
            </a:r>
            <a:r>
              <a:rPr sz="6600" dirty="0" err="1">
                <a:solidFill>
                  <a:schemeClr val="bg1"/>
                </a:solidFill>
                <a:latin typeface="Times New Roman" panose="02020603050405020304" pitchFamily="18" charset="0"/>
                <a:cs typeface="Times New Roman" panose="02020603050405020304" pitchFamily="18" charset="0"/>
              </a:rPr>
              <a:t>Alimentaire</a:t>
            </a:r>
            <a:endParaRPr sz="6600" dirty="0">
              <a:solidFill>
                <a:schemeClr val="bg1"/>
              </a:solidFill>
              <a:latin typeface="Times New Roman" panose="02020603050405020304" pitchFamily="18" charset="0"/>
              <a:cs typeface="Times New Roman" panose="02020603050405020304" pitchFamily="18" charset="0"/>
            </a:endParaRPr>
          </a:p>
        </p:txBody>
      </p:sp>
      <p:sp>
        <p:nvSpPr>
          <p:cNvPr id="7" name="Subtitle 2"/>
          <p:cNvSpPr>
            <a:spLocks noGrp="1"/>
          </p:cNvSpPr>
          <p:nvPr>
            <p:ph type="subTitle" idx="1"/>
          </p:nvPr>
        </p:nvSpPr>
        <p:spPr>
          <a:xfrm>
            <a:off x="2604052" y="2941983"/>
            <a:ext cx="4684644" cy="622852"/>
          </a:xfrm>
        </p:spPr>
        <p:txBody>
          <a:bodyPr/>
          <a:lstStyle/>
          <a:p>
            <a:r>
              <a:rPr dirty="0">
                <a:solidFill>
                  <a:srgbClr val="7030A0"/>
                </a:solidFill>
              </a:rPr>
              <a:t>Distribution pour 50 </a:t>
            </a:r>
            <a:r>
              <a:rPr dirty="0" err="1">
                <a:solidFill>
                  <a:srgbClr val="7030A0"/>
                </a:solidFill>
              </a:rPr>
              <a:t>personnes</a:t>
            </a:r>
            <a:endParaRPr dirty="0">
              <a:solidFill>
                <a:srgbClr val="7030A0"/>
              </a:solidFill>
            </a:endParaRPr>
          </a:p>
        </p:txBody>
      </p:sp>
    </p:spTree>
    <p:extLst>
      <p:ext uri="{BB962C8B-B14F-4D97-AF65-F5344CB8AC3E}">
        <p14:creationId xmlns:p14="http://schemas.microsoft.com/office/powerpoint/2010/main" val="33206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8" name="Title 1"/>
          <p:cNvSpPr>
            <a:spLocks noGrp="1"/>
          </p:cNvSpPr>
          <p:nvPr/>
        </p:nvSpPr>
        <p:spPr>
          <a:xfrm>
            <a:off x="2094186" y="294755"/>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dirty="0" err="1">
                <a:solidFill>
                  <a:srgbClr val="7030A0"/>
                </a:solidFill>
              </a:rPr>
              <a:t>Détail</a:t>
            </a:r>
            <a:r>
              <a:rPr dirty="0">
                <a:solidFill>
                  <a:srgbClr val="7030A0"/>
                </a:solidFill>
              </a:rPr>
              <a:t> du Budget</a:t>
            </a:r>
          </a:p>
        </p:txBody>
      </p:sp>
      <p:pic>
        <p:nvPicPr>
          <p:cNvPr id="9" name="table"/>
          <p:cNvPicPr>
            <a:picLocks noChangeAspect="1"/>
          </p:cNvPicPr>
          <p:nvPr/>
        </p:nvPicPr>
        <p:blipFill>
          <a:blip r:embed="rId3"/>
          <a:stretch>
            <a:fillRect/>
          </a:stretch>
        </p:blipFill>
        <p:spPr>
          <a:xfrm>
            <a:off x="1868214" y="1391716"/>
            <a:ext cx="8455570" cy="5171528"/>
          </a:xfrm>
          <a:prstGeom prst="rect">
            <a:avLst/>
          </a:prstGeom>
        </p:spPr>
      </p:pic>
    </p:spTree>
    <p:extLst>
      <p:ext uri="{BB962C8B-B14F-4D97-AF65-F5344CB8AC3E}">
        <p14:creationId xmlns:p14="http://schemas.microsoft.com/office/powerpoint/2010/main" val="211609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sz="6600" dirty="0" smtClean="0">
                <a:solidFill>
                  <a:schemeClr val="bg1"/>
                </a:solidFill>
                <a:latin typeface="Times New Roman" panose="02020603050405020304" pitchFamily="18" charset="0"/>
                <a:cs typeface="Times New Roman" panose="02020603050405020304" pitchFamily="18" charset="0"/>
              </a:rPr>
              <a:t>Budget</a:t>
            </a:r>
            <a:r>
              <a:rPr lang="fr-FR" sz="6600" dirty="0" smtClean="0">
                <a:solidFill>
                  <a:schemeClr val="bg1"/>
                </a:solidFill>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Agapé</a:t>
            </a:r>
            <a:endParaRPr sz="6600" dirty="0">
              <a:solidFill>
                <a:schemeClr val="bg1"/>
              </a:solidFill>
              <a:latin typeface="Times New Roman" panose="02020603050405020304" pitchFamily="18" charset="0"/>
              <a:cs typeface="Times New Roman" panose="02020603050405020304" pitchFamily="18" charset="0"/>
            </a:endParaRPr>
          </a:p>
        </p:txBody>
      </p:sp>
      <p:sp>
        <p:nvSpPr>
          <p:cNvPr id="7" name="Subtitle 2"/>
          <p:cNvSpPr>
            <a:spLocks noGrp="1"/>
          </p:cNvSpPr>
          <p:nvPr>
            <p:ph type="subTitle" idx="1"/>
          </p:nvPr>
        </p:nvSpPr>
        <p:spPr>
          <a:xfrm>
            <a:off x="2604052" y="2941983"/>
            <a:ext cx="4684644" cy="622852"/>
          </a:xfrm>
        </p:spPr>
        <p:txBody>
          <a:bodyPr/>
          <a:lstStyle/>
          <a:p>
            <a:r>
              <a:rPr dirty="0" smtClean="0">
                <a:solidFill>
                  <a:srgbClr val="7030A0"/>
                </a:solidFill>
              </a:rPr>
              <a:t>pour </a:t>
            </a:r>
            <a:r>
              <a:rPr lang="fr-FR" dirty="0">
                <a:solidFill>
                  <a:srgbClr val="7030A0"/>
                </a:solidFill>
              </a:rPr>
              <a:t>8</a:t>
            </a:r>
            <a:r>
              <a:rPr dirty="0" smtClean="0">
                <a:solidFill>
                  <a:srgbClr val="7030A0"/>
                </a:solidFill>
              </a:rPr>
              <a:t>0 </a:t>
            </a:r>
            <a:r>
              <a:rPr dirty="0" err="1">
                <a:solidFill>
                  <a:srgbClr val="7030A0"/>
                </a:solidFill>
              </a:rPr>
              <a:t>personnes</a:t>
            </a:r>
            <a:endParaRPr dirty="0">
              <a:solidFill>
                <a:srgbClr val="7030A0"/>
              </a:solidFill>
            </a:endParaRPr>
          </a:p>
        </p:txBody>
      </p:sp>
    </p:spTree>
    <p:extLst>
      <p:ext uri="{BB962C8B-B14F-4D97-AF65-F5344CB8AC3E}">
        <p14:creationId xmlns:p14="http://schemas.microsoft.com/office/powerpoint/2010/main" val="3529649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pic>
        <p:nvPicPr>
          <p:cNvPr id="5" name="Image 4"/>
          <p:cNvPicPr>
            <a:picLocks noChangeAspect="1"/>
          </p:cNvPicPr>
          <p:nvPr/>
        </p:nvPicPr>
        <p:blipFill>
          <a:blip r:embed="rId3"/>
          <a:stretch>
            <a:fillRect/>
          </a:stretch>
        </p:blipFill>
        <p:spPr>
          <a:xfrm>
            <a:off x="997454" y="1040307"/>
            <a:ext cx="11035520" cy="5161710"/>
          </a:xfrm>
          <a:prstGeom prst="rect">
            <a:avLst/>
          </a:prstGeom>
        </p:spPr>
      </p:pic>
    </p:spTree>
    <p:extLst>
      <p:ext uri="{BB962C8B-B14F-4D97-AF65-F5344CB8AC3E}">
        <p14:creationId xmlns:p14="http://schemas.microsoft.com/office/powerpoint/2010/main" val="886606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614289" y="856722"/>
            <a:ext cx="11577711" cy="6014642"/>
          </a:xfrm>
        </p:spPr>
        <p:txBody>
          <a:bodyPr numCol="1" anchor="ctr">
            <a:noAutofit/>
          </a:bodyPr>
          <a:lstStyle/>
          <a:p>
            <a:r>
              <a:rPr lang="fr-FR" sz="2300" b="1" dirty="0">
                <a:solidFill>
                  <a:schemeClr val="bg1"/>
                </a:solidFill>
                <a:latin typeface="Times New Roman" panose="02020603050405020304" pitchFamily="18" charset="0"/>
                <a:cs typeface="Times New Roman" panose="02020603050405020304" pitchFamily="18" charset="0"/>
              </a:rPr>
              <a:t>Pour les ados</a:t>
            </a:r>
            <a:r>
              <a:rPr lang="fr-FR" sz="2300" dirty="0">
                <a:solidFill>
                  <a:schemeClr val="bg1"/>
                </a:solidFill>
                <a:latin typeface="Times New Roman" panose="02020603050405020304" pitchFamily="18" charset="0"/>
                <a:cs typeface="Times New Roman" panose="02020603050405020304" pitchFamily="18" charset="0"/>
              </a:rPr>
              <a:t> : Time’s up des super héros est un jeu d’ambiance basé sur la reconnaissance de personnages ou de concepts à travers des descriptions, des mimes ou des mots-clés, joué en équipes et en plusieurs manches. Dans ce jeu, les personnages à deviner sont soit des super-héros fictifs (comme Superman, Wonder, Woman), soit des figures bibliques ou chrétiennes (comme Moïse, Marie, ou des saints) présentées comme des « héros » de la foi. L’objectif est de combiner de façon ludique, amusement et réflexion spirituelle, en encourageant les participants à explorer des thèmes comme le courage, le sacrifice, le service, l’engagement, le renoncement, la responsabilité ou le choix qui peuvent être liés à notre activité de dons. Mais aussi de voir la perception des jeunes et renchérir avec des versets Bibliques.</a:t>
            </a:r>
            <a:br>
              <a:rPr lang="fr-FR" sz="2300" dirty="0">
                <a:solidFill>
                  <a:schemeClr val="bg1"/>
                </a:solidFill>
                <a:latin typeface="Times New Roman" panose="02020603050405020304" pitchFamily="18" charset="0"/>
                <a:cs typeface="Times New Roman" panose="02020603050405020304" pitchFamily="18" charset="0"/>
              </a:rPr>
            </a:br>
            <a:r>
              <a:rPr lang="fr-FR" sz="2300" dirty="0">
                <a:solidFill>
                  <a:schemeClr val="bg1"/>
                </a:solidFill>
                <a:latin typeface="Times New Roman" panose="02020603050405020304" pitchFamily="18" charset="0"/>
                <a:cs typeface="Times New Roman" panose="02020603050405020304" pitchFamily="18" charset="0"/>
              </a:rPr>
              <a:t/>
            </a:r>
            <a:br>
              <a:rPr lang="fr-FR" sz="2300" dirty="0">
                <a:solidFill>
                  <a:schemeClr val="bg1"/>
                </a:solidFill>
                <a:latin typeface="Times New Roman" panose="02020603050405020304" pitchFamily="18" charset="0"/>
                <a:cs typeface="Times New Roman" panose="02020603050405020304" pitchFamily="18" charset="0"/>
              </a:rPr>
            </a:br>
            <a:r>
              <a:rPr lang="fr-FR" sz="2300" b="1" dirty="0">
                <a:solidFill>
                  <a:schemeClr val="bg1"/>
                </a:solidFill>
                <a:latin typeface="Times New Roman" panose="02020603050405020304" pitchFamily="18" charset="0"/>
                <a:cs typeface="Times New Roman" panose="02020603050405020304" pitchFamily="18" charset="0"/>
              </a:rPr>
              <a:t>Atelier témoignage pour les Adultes</a:t>
            </a:r>
            <a:r>
              <a:rPr lang="fr-FR" sz="2300" dirty="0">
                <a:solidFill>
                  <a:schemeClr val="bg1"/>
                </a:solidFill>
                <a:latin typeface="Times New Roman" panose="02020603050405020304" pitchFamily="18" charset="0"/>
                <a:cs typeface="Times New Roman" panose="02020603050405020304" pitchFamily="18" charset="0"/>
              </a:rPr>
              <a:t>: des témoignages personnels sur l’impact de la foi dans la vie des participants. Invitez les bénéficiaires des dons à y participer. Cet atelier permet de partager une expérience personnelle liée à la générosité ou au service, suivie d’une discussion en petits groupes sur des thèmes comme "Qu’est-ce que donner signifie pour vous ?", "le service comme expression de la foi", "Comment aider les autres reflète-t-il votre foi ?" etc… et renchérir avec des versets bibliques.</a:t>
            </a:r>
            <a:br>
              <a:rPr lang="fr-FR" sz="2300" dirty="0">
                <a:solidFill>
                  <a:schemeClr val="bg1"/>
                </a:solidFill>
                <a:latin typeface="Times New Roman" panose="02020603050405020304" pitchFamily="18" charset="0"/>
                <a:cs typeface="Times New Roman" panose="02020603050405020304" pitchFamily="18" charset="0"/>
              </a:rPr>
            </a:br>
            <a:r>
              <a:rPr lang="fr-FR" sz="2300" dirty="0">
                <a:solidFill>
                  <a:schemeClr val="bg1"/>
                </a:solidFill>
                <a:latin typeface="Times New Roman" panose="02020603050405020304" pitchFamily="18" charset="0"/>
                <a:cs typeface="Times New Roman" panose="02020603050405020304" pitchFamily="18" charset="0"/>
              </a:rPr>
              <a:t/>
            </a:r>
            <a:br>
              <a:rPr lang="fr-FR" sz="2300" dirty="0">
                <a:solidFill>
                  <a:schemeClr val="bg1"/>
                </a:solidFill>
                <a:latin typeface="Times New Roman" panose="02020603050405020304" pitchFamily="18" charset="0"/>
                <a:cs typeface="Times New Roman" panose="02020603050405020304" pitchFamily="18" charset="0"/>
              </a:rPr>
            </a:br>
            <a:r>
              <a:rPr lang="fr-FR" sz="2300" b="1" dirty="0">
                <a:solidFill>
                  <a:schemeClr val="bg1"/>
                </a:solidFill>
                <a:latin typeface="Times New Roman" panose="02020603050405020304" pitchFamily="18" charset="0"/>
                <a:cs typeface="Times New Roman" panose="02020603050405020304" pitchFamily="18" charset="0"/>
              </a:rPr>
              <a:t>Activité d’évangélisation</a:t>
            </a:r>
            <a:r>
              <a:rPr lang="fr-FR" sz="2300" dirty="0">
                <a:solidFill>
                  <a:schemeClr val="bg1"/>
                </a:solidFill>
                <a:latin typeface="Times New Roman" panose="02020603050405020304" pitchFamily="18" charset="0"/>
                <a:cs typeface="Times New Roman" panose="02020603050405020304" pitchFamily="18" charset="0"/>
              </a:rPr>
              <a:t> : Chaque jeu peut être suivi d’une réflexion sur un verset biblique ou une valeur chrétienne (ex. : l’amour, le service). Par exemple, après un jeu sur l’engagement, discutez de Jean 13:34-35 ("Aimez-vous les uns les autres"), sur la générosité (ex. : Matthieu 25:35-40).</a:t>
            </a: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2377440" y="-98474"/>
            <a:ext cx="8876713" cy="941832"/>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4000" b="1" dirty="0">
                <a:solidFill>
                  <a:schemeClr val="bg1"/>
                </a:solidFill>
              </a:rPr>
              <a:t>Jeux et animations spirituelles</a:t>
            </a:r>
            <a:r>
              <a:rPr lang="fr-FR" sz="1100" dirty="0">
                <a:solidFill>
                  <a:schemeClr val="bg1"/>
                </a:solidFill>
              </a:rPr>
              <a:t/>
            </a:r>
            <a:br>
              <a:rPr lang="fr-FR" sz="1100" dirty="0">
                <a:solidFill>
                  <a:schemeClr val="bg1"/>
                </a:solidFill>
              </a:rPr>
            </a:br>
            <a:endParaRPr lang="fr-FR" sz="600" dirty="0">
              <a:solidFill>
                <a:schemeClr val="bg1"/>
              </a:solidFill>
            </a:endParaRPr>
          </a:p>
        </p:txBody>
      </p:sp>
    </p:spTree>
    <p:extLst>
      <p:ext uri="{BB962C8B-B14F-4D97-AF65-F5344CB8AC3E}">
        <p14:creationId xmlns:p14="http://schemas.microsoft.com/office/powerpoint/2010/main" val="28994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70" y="-98474"/>
            <a:ext cx="633046" cy="908323"/>
          </a:xfrm>
          <a:prstGeom prst="rect">
            <a:avLst/>
          </a:prstGeom>
          <a:noFill/>
          <a:ln>
            <a:noFill/>
          </a:ln>
        </p:spPr>
      </p:pic>
      <p:sp>
        <p:nvSpPr>
          <p:cNvPr id="5" name="Titre 1"/>
          <p:cNvSpPr txBox="1">
            <a:spLocks/>
          </p:cNvSpPr>
          <p:nvPr/>
        </p:nvSpPr>
        <p:spPr>
          <a:xfrm>
            <a:off x="1041010" y="355687"/>
            <a:ext cx="11235399" cy="464234"/>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600" b="1" u="sng" dirty="0">
                <a:solidFill>
                  <a:schemeClr val="bg1"/>
                </a:solidFill>
                <a:latin typeface="Times New Roman" panose="02020603050405020304" pitchFamily="18" charset="0"/>
                <a:cs typeface="Times New Roman" panose="02020603050405020304" pitchFamily="18" charset="0"/>
              </a:rPr>
              <a:t>Déroulement de la journée sur 4 heures (9h00 - 13h30)</a:t>
            </a:r>
          </a:p>
          <a:p>
            <a:r>
              <a:rPr lang="fr-FR" sz="4400" b="1" u="sng" dirty="0">
                <a:solidFill>
                  <a:schemeClr val="bg1"/>
                </a:solidFill>
                <a:latin typeface="Times New Roman" panose="02020603050405020304" pitchFamily="18" charset="0"/>
                <a:cs typeface="Times New Roman" panose="02020603050405020304" pitchFamily="18" charset="0"/>
              </a:rPr>
              <a:t> </a:t>
            </a:r>
            <a:r>
              <a:rPr lang="fr-FR" sz="1100" dirty="0">
                <a:solidFill>
                  <a:schemeClr val="bg1"/>
                </a:solidFill>
              </a:rPr>
              <a:t/>
            </a:r>
            <a:br>
              <a:rPr lang="fr-FR" sz="1100" dirty="0">
                <a:solidFill>
                  <a:schemeClr val="bg1"/>
                </a:solidFill>
              </a:rPr>
            </a:br>
            <a:endParaRPr lang="fr-FR" sz="600" dirty="0">
              <a:solidFill>
                <a:schemeClr val="bg1"/>
              </a:solidFill>
            </a:endParaRPr>
          </a:p>
        </p:txBody>
      </p:sp>
      <p:graphicFrame>
        <p:nvGraphicFramePr>
          <p:cNvPr id="6" name="Tableau 5"/>
          <p:cNvGraphicFramePr>
            <a:graphicFrameLocks noGrp="1"/>
          </p:cNvGraphicFramePr>
          <p:nvPr>
            <p:extLst>
              <p:ext uri="{D42A27DB-BD31-4B8C-83A1-F6EECF244321}">
                <p14:modId xmlns:p14="http://schemas.microsoft.com/office/powerpoint/2010/main" val="2432333859"/>
              </p:ext>
            </p:extLst>
          </p:nvPr>
        </p:nvGraphicFramePr>
        <p:xfrm>
          <a:off x="492370" y="809849"/>
          <a:ext cx="11699632" cy="6014900"/>
        </p:xfrm>
        <a:graphic>
          <a:graphicData uri="http://schemas.openxmlformats.org/drawingml/2006/table">
            <a:tbl>
              <a:tblPr firstRow="1" bandRow="1">
                <a:tableStyleId>{5C22544A-7EE6-4342-B048-85BDC9FD1C3A}</a:tableStyleId>
              </a:tblPr>
              <a:tblGrid>
                <a:gridCol w="1097282">
                  <a:extLst>
                    <a:ext uri="{9D8B030D-6E8A-4147-A177-3AD203B41FA5}">
                      <a16:colId xmlns:a16="http://schemas.microsoft.com/office/drawing/2014/main" val="2527729033"/>
                    </a:ext>
                  </a:extLst>
                </a:gridCol>
                <a:gridCol w="1055077">
                  <a:extLst>
                    <a:ext uri="{9D8B030D-6E8A-4147-A177-3AD203B41FA5}">
                      <a16:colId xmlns:a16="http://schemas.microsoft.com/office/drawing/2014/main" val="2909611426"/>
                    </a:ext>
                  </a:extLst>
                </a:gridCol>
                <a:gridCol w="2039816">
                  <a:extLst>
                    <a:ext uri="{9D8B030D-6E8A-4147-A177-3AD203B41FA5}">
                      <a16:colId xmlns:a16="http://schemas.microsoft.com/office/drawing/2014/main" val="3030989666"/>
                    </a:ext>
                  </a:extLst>
                </a:gridCol>
                <a:gridCol w="7507457">
                  <a:extLst>
                    <a:ext uri="{9D8B030D-6E8A-4147-A177-3AD203B41FA5}">
                      <a16:colId xmlns:a16="http://schemas.microsoft.com/office/drawing/2014/main" val="1259615076"/>
                    </a:ext>
                  </a:extLst>
                </a:gridCol>
              </a:tblGrid>
              <a:tr h="611668">
                <a:tc>
                  <a:txBody>
                    <a:bodyPr/>
                    <a:lstStyle/>
                    <a:p>
                      <a:r>
                        <a:rPr lang="fr-FR" sz="1600" b="1" dirty="0">
                          <a:latin typeface="Times New Roman" panose="02020603050405020304" pitchFamily="18" charset="0"/>
                          <a:cs typeface="Times New Roman" panose="02020603050405020304" pitchFamily="18" charset="0"/>
                        </a:rPr>
                        <a:t>Heure</a:t>
                      </a:r>
                    </a:p>
                  </a:txBody>
                  <a:tcPr/>
                </a:tc>
                <a:tc>
                  <a:txBody>
                    <a:bodyPr/>
                    <a:lstStyle/>
                    <a:p>
                      <a:r>
                        <a:rPr lang="fr-FR" sz="1600" b="1" dirty="0">
                          <a:latin typeface="Times New Roman" panose="02020603050405020304" pitchFamily="18" charset="0"/>
                          <a:cs typeface="Times New Roman" panose="02020603050405020304" pitchFamily="18" charset="0"/>
                        </a:rPr>
                        <a:t>Durée</a:t>
                      </a:r>
                    </a:p>
                  </a:txBody>
                  <a:tcPr/>
                </a:tc>
                <a:tc>
                  <a:txBody>
                    <a:bodyPr/>
                    <a:lstStyle/>
                    <a:p>
                      <a:r>
                        <a:rPr lang="fr-FR" sz="1600" dirty="0">
                          <a:latin typeface="Times New Roman" panose="02020603050405020304" pitchFamily="18" charset="0"/>
                          <a:cs typeface="Times New Roman" panose="02020603050405020304" pitchFamily="18" charset="0"/>
                        </a:rPr>
                        <a:t>Activité</a:t>
                      </a:r>
                    </a:p>
                  </a:txBody>
                  <a:tcPr/>
                </a:tc>
                <a:tc>
                  <a:txBody>
                    <a:bodyPr/>
                    <a:lstStyle/>
                    <a:p>
                      <a:r>
                        <a:rPr lang="fr-FR" sz="1600" dirty="0">
                          <a:latin typeface="Times New Roman" panose="02020603050405020304" pitchFamily="18" charset="0"/>
                          <a:cs typeface="Times New Roman" panose="02020603050405020304" pitchFamily="18" charset="0"/>
                        </a:rPr>
                        <a:t>Détail</a:t>
                      </a:r>
                    </a:p>
                  </a:txBody>
                  <a:tcPr/>
                </a:tc>
                <a:extLst>
                  <a:ext uri="{0D108BD9-81ED-4DB2-BD59-A6C34878D82A}">
                    <a16:rowId xmlns:a16="http://schemas.microsoft.com/office/drawing/2014/main" val="3290555521"/>
                  </a:ext>
                </a:extLst>
              </a:tr>
              <a:tr h="611668">
                <a:tc>
                  <a:txBody>
                    <a:bodyPr/>
                    <a:lstStyle/>
                    <a:p>
                      <a:r>
                        <a:rPr lang="fr-FR" sz="1600" dirty="0">
                          <a:latin typeface="Times New Roman" panose="02020603050405020304" pitchFamily="18" charset="0"/>
                          <a:cs typeface="Times New Roman" panose="02020603050405020304" pitchFamily="18" charset="0"/>
                        </a:rPr>
                        <a:t>9h00-9h30</a:t>
                      </a:r>
                    </a:p>
                  </a:txBody>
                  <a:tcPr/>
                </a:tc>
                <a:tc>
                  <a:txBody>
                    <a:bodyPr/>
                    <a:lstStyle/>
                    <a:p>
                      <a:r>
                        <a:rPr lang="fr-FR" sz="1600" dirty="0">
                          <a:latin typeface="Times New Roman" panose="02020603050405020304" pitchFamily="18" charset="0"/>
                          <a:cs typeface="Times New Roman" panose="02020603050405020304" pitchFamily="18" charset="0"/>
                        </a:rPr>
                        <a:t>30min</a:t>
                      </a:r>
                    </a:p>
                  </a:txBody>
                  <a:tcPr/>
                </a:tc>
                <a:tc>
                  <a:txBody>
                    <a:bodyPr/>
                    <a:lstStyle/>
                    <a:p>
                      <a:r>
                        <a:rPr lang="fr-FR" sz="1600" b="1" kern="1200" dirty="0">
                          <a:solidFill>
                            <a:schemeClr val="dk1"/>
                          </a:solidFill>
                          <a:effectLst/>
                          <a:latin typeface="Times New Roman" panose="02020603050405020304" pitchFamily="18" charset="0"/>
                          <a:ea typeface="+mn-ea"/>
                          <a:cs typeface="Times New Roman" panose="02020603050405020304" pitchFamily="18" charset="0"/>
                        </a:rPr>
                        <a:t>Accueil et ouverture</a:t>
                      </a:r>
                      <a:endParaRPr lang="fr-FR" sz="1600" b="1" dirty="0">
                        <a:latin typeface="Times New Roman" panose="02020603050405020304" pitchFamily="18" charset="0"/>
                        <a:cs typeface="Times New Roman" panose="02020603050405020304" pitchFamily="18" charset="0"/>
                      </a:endParaRPr>
                    </a:p>
                  </a:txBody>
                  <a:tcPr/>
                </a:tc>
                <a:tc>
                  <a:txBody>
                    <a:bodyPr/>
                    <a:lstStyle/>
                    <a:p>
                      <a:r>
                        <a:rPr lang="fr-FR" sz="1600" kern="1200" dirty="0">
                          <a:solidFill>
                            <a:schemeClr val="dk1"/>
                          </a:solidFill>
                          <a:effectLst/>
                          <a:latin typeface="Times New Roman" panose="02020603050405020304" pitchFamily="18" charset="0"/>
                          <a:ea typeface="+mn-ea"/>
                          <a:cs typeface="Times New Roman" panose="02020603050405020304" pitchFamily="18" charset="0"/>
                        </a:rPr>
                        <a:t>Arrivée, prière d’ouverture collective (tous). Présentation rapide du thème : "Être des héros de la foi à travers le service et les dons" (lien avec Proverbes 19:17).</a:t>
                      </a:r>
                      <a:endParaRPr lang="fr-F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3941163"/>
                  </a:ext>
                </a:extLst>
              </a:tr>
              <a:tr h="1006141">
                <a:tc>
                  <a:txBody>
                    <a:bodyPr/>
                    <a:lstStyle/>
                    <a:p>
                      <a:r>
                        <a:rPr lang="fr-FR" sz="1600" dirty="0">
                          <a:latin typeface="Times New Roman" panose="02020603050405020304" pitchFamily="18" charset="0"/>
                          <a:cs typeface="Times New Roman" panose="02020603050405020304" pitchFamily="18" charset="0"/>
                        </a:rPr>
                        <a:t>9h30-10h30</a:t>
                      </a:r>
                    </a:p>
                  </a:txBody>
                  <a:tcPr/>
                </a:tc>
                <a:tc>
                  <a:txBody>
                    <a:bodyPr/>
                    <a:lstStyle/>
                    <a:p>
                      <a:r>
                        <a:rPr lang="fr-FR" sz="1600" dirty="0">
                          <a:latin typeface="Times New Roman" panose="02020603050405020304" pitchFamily="18" charset="0"/>
                          <a:cs typeface="Times New Roman" panose="02020603050405020304" pitchFamily="18" charset="0"/>
                        </a:rPr>
                        <a:t>60min</a:t>
                      </a:r>
                    </a:p>
                  </a:txBody>
                  <a:tcPr/>
                </a:tc>
                <a:tc>
                  <a:txBody>
                    <a:bodyPr/>
                    <a:lstStyle/>
                    <a:p>
                      <a:r>
                        <a:rPr lang="fr-FR" sz="1600" b="1" dirty="0">
                          <a:effectLst/>
                          <a:latin typeface="Times New Roman" panose="02020603050405020304" pitchFamily="18" charset="0"/>
                          <a:cs typeface="Times New Roman" panose="02020603050405020304" pitchFamily="18" charset="0"/>
                        </a:rPr>
                        <a:t>Activités parallèles par groupe Session 1</a:t>
                      </a:r>
                    </a:p>
                  </a:txBody>
                  <a:tcPr/>
                </a:tc>
                <a:tc>
                  <a:txBody>
                    <a:bodyPr/>
                    <a:lstStyle/>
                    <a:p>
                      <a:pPr marL="285750" indent="-285750">
                        <a:buFont typeface="Arial" panose="020B0604020202020204" pitchFamily="34" charset="0"/>
                        <a:buChar char="•"/>
                      </a:pPr>
                      <a:r>
                        <a:rPr lang="fr-FR" sz="1600" b="1" kern="1200" dirty="0">
                          <a:solidFill>
                            <a:schemeClr val="dk1"/>
                          </a:solidFill>
                          <a:effectLst/>
                          <a:latin typeface="Times New Roman" panose="02020603050405020304" pitchFamily="18" charset="0"/>
                          <a:ea typeface="+mn-ea"/>
                          <a:cs typeface="Times New Roman" panose="02020603050405020304" pitchFamily="18" charset="0"/>
                        </a:rPr>
                        <a:t>Adolescents</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 :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Jeu "Time’s Up des super-héros" </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(manches 1-2 : descriptions, un mot, mimes). Suivi d’une discussion de 10 min sur les thèmes (courage, sacrifice) et versets (ex. : Josué 1:9 pour le courage), liée aux dons.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b="1" kern="1200" dirty="0">
                          <a:solidFill>
                            <a:schemeClr val="dk1"/>
                          </a:solidFill>
                          <a:effectLst/>
                          <a:latin typeface="Times New Roman" panose="02020603050405020304" pitchFamily="18" charset="0"/>
                          <a:ea typeface="+mn-ea"/>
                          <a:cs typeface="Times New Roman" panose="02020603050405020304" pitchFamily="18" charset="0"/>
                        </a:rPr>
                        <a:t>Adultes</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 :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Atelier de témoignages </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a:t>
                      </a:r>
                      <a:r>
                        <a:rPr lang="fr-FR" sz="1600" dirty="0">
                          <a:effectLst/>
                        </a:rPr>
                        <a:t>2-3</a:t>
                      </a:r>
                      <a:r>
                        <a:rPr lang="fr-FR" sz="1600" baseline="0" dirty="0">
                          <a:effectLst/>
                        </a:rPr>
                        <a:t> </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partage personnel + discussions en petits groupes sur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"donner comme expression de la foi"). </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Inviter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2-3 bénéficiaires</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 Renchérir avec versets (ex. : Luc 6:38).</a:t>
                      </a:r>
                      <a:endParaRPr lang="fr-FR" sz="1200"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7387535"/>
                  </a:ext>
                </a:extLst>
              </a:tr>
              <a:tr h="611668">
                <a:tc>
                  <a:txBody>
                    <a:bodyPr/>
                    <a:lstStyle/>
                    <a:p>
                      <a:r>
                        <a:rPr lang="fr-FR" sz="1600" dirty="0">
                          <a:latin typeface="Times New Roman" panose="02020603050405020304" pitchFamily="18" charset="0"/>
                          <a:cs typeface="Times New Roman" panose="02020603050405020304" pitchFamily="18" charset="0"/>
                        </a:rPr>
                        <a:t>10h30-10h50</a:t>
                      </a:r>
                    </a:p>
                  </a:txBody>
                  <a:tcPr/>
                </a:tc>
                <a:tc>
                  <a:txBody>
                    <a:bodyPr/>
                    <a:lstStyle/>
                    <a:p>
                      <a:r>
                        <a:rPr lang="fr-FR" sz="1600" dirty="0">
                          <a:latin typeface="Times New Roman" panose="02020603050405020304" pitchFamily="18" charset="0"/>
                          <a:cs typeface="Times New Roman" panose="02020603050405020304" pitchFamily="18" charset="0"/>
                        </a:rPr>
                        <a:t>10min</a:t>
                      </a:r>
                    </a:p>
                  </a:txBody>
                  <a:tcPr/>
                </a:tc>
                <a:tc>
                  <a:txBody>
                    <a:bodyPr/>
                    <a:lstStyle/>
                    <a:p>
                      <a:r>
                        <a:rPr lang="fr-FR" sz="1600" b="1" dirty="0">
                          <a:latin typeface="Times New Roman" panose="02020603050405020304" pitchFamily="18" charset="0"/>
                          <a:cs typeface="Times New Roman" panose="02020603050405020304" pitchFamily="18" charset="0"/>
                        </a:rPr>
                        <a:t>Courte pause</a:t>
                      </a:r>
                    </a:p>
                  </a:txBody>
                  <a:tcPr/>
                </a:tc>
                <a:tc>
                  <a:txBody>
                    <a:bodyPr/>
                    <a:lstStyle/>
                    <a:p>
                      <a:r>
                        <a:rPr lang="fr-FR" sz="1600" dirty="0">
                          <a:effectLst/>
                        </a:rPr>
                        <a:t>Boissons et étirements.</a:t>
                      </a:r>
                    </a:p>
                  </a:txBody>
                  <a:tcPr/>
                </a:tc>
                <a:extLst>
                  <a:ext uri="{0D108BD9-81ED-4DB2-BD59-A6C34878D82A}">
                    <a16:rowId xmlns:a16="http://schemas.microsoft.com/office/drawing/2014/main" val="3450108719"/>
                  </a:ext>
                </a:extLst>
              </a:tr>
              <a:tr h="611668">
                <a:tc>
                  <a:txBody>
                    <a:bodyPr/>
                    <a:lstStyle/>
                    <a:p>
                      <a:r>
                        <a:rPr lang="fr-FR" sz="1600" dirty="0">
                          <a:latin typeface="Times New Roman" panose="02020603050405020304" pitchFamily="18" charset="0"/>
                          <a:cs typeface="Times New Roman" panose="02020603050405020304" pitchFamily="18" charset="0"/>
                        </a:rPr>
                        <a:t>10h50-11h20</a:t>
                      </a:r>
                    </a:p>
                  </a:txBody>
                  <a:tcPr/>
                </a:tc>
                <a:tc>
                  <a:txBody>
                    <a:bodyPr/>
                    <a:lstStyle/>
                    <a:p>
                      <a:r>
                        <a:rPr lang="fr-FR" sz="1600" dirty="0">
                          <a:latin typeface="Times New Roman" panose="02020603050405020304" pitchFamily="18" charset="0"/>
                          <a:cs typeface="Times New Roman" panose="02020603050405020304" pitchFamily="18" charset="0"/>
                        </a:rPr>
                        <a:t>30min</a:t>
                      </a:r>
                    </a:p>
                  </a:txBody>
                  <a:tcPr/>
                </a:tc>
                <a:tc>
                  <a:txBody>
                    <a:bodyPr/>
                    <a:lstStyle/>
                    <a:p>
                      <a:r>
                        <a:rPr lang="fr-FR" sz="1600" b="1" dirty="0">
                          <a:effectLst/>
                          <a:latin typeface="Times New Roman" panose="02020603050405020304" pitchFamily="18" charset="0"/>
                          <a:cs typeface="Times New Roman" panose="02020603050405020304" pitchFamily="18" charset="0"/>
                        </a:rPr>
                        <a:t>Activités parallèles mixes Session 2</a:t>
                      </a:r>
                    </a:p>
                  </a:txBody>
                  <a:tcPr/>
                </a:tc>
                <a:tc>
                  <a:txBody>
                    <a:bodyPr/>
                    <a:lstStyle/>
                    <a:p>
                      <a:r>
                        <a:rPr lang="fr-FR" sz="1600" kern="1200" dirty="0">
                          <a:solidFill>
                            <a:schemeClr val="dk1"/>
                          </a:solidFill>
                          <a:effectLst/>
                          <a:latin typeface="Times New Roman" panose="02020603050405020304" pitchFamily="18" charset="0"/>
                          <a:ea typeface="+mn-ea"/>
                          <a:cs typeface="Times New Roman" panose="02020603050405020304" pitchFamily="18" charset="0"/>
                        </a:rPr>
                        <a:t>Fusion des groupes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 Adolescents </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présentent un "super-héros biblique" appris du jeu ; </a:t>
                      </a:r>
                    </a:p>
                    <a:p>
                      <a:r>
                        <a:rPr lang="fr-FR" sz="1600" b="1" kern="1200" dirty="0">
                          <a:solidFill>
                            <a:schemeClr val="dk1"/>
                          </a:solidFill>
                          <a:effectLst/>
                          <a:latin typeface="Times New Roman" panose="02020603050405020304" pitchFamily="18" charset="0"/>
                          <a:ea typeface="+mn-ea"/>
                          <a:cs typeface="Times New Roman" panose="02020603050405020304" pitchFamily="18" charset="0"/>
                        </a:rPr>
                        <a:t>Adultes</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 partagent un témoignage court</a:t>
                      </a:r>
                      <a:r>
                        <a:rPr lang="fr-FR" sz="1600" kern="1200" baseline="0" dirty="0">
                          <a:solidFill>
                            <a:schemeClr val="dk1"/>
                          </a:solidFill>
                          <a:effectLst/>
                          <a:latin typeface="Times New Roman" panose="02020603050405020304" pitchFamily="18" charset="0"/>
                          <a:ea typeface="+mn-ea"/>
                          <a:cs typeface="Times New Roman" panose="02020603050405020304" pitchFamily="18" charset="0"/>
                        </a:rPr>
                        <a:t> (1-2 exemples)</a:t>
                      </a:r>
                      <a:r>
                        <a:rPr lang="fr-FR" sz="1600" kern="1200" dirty="0">
                          <a:solidFill>
                            <a:schemeClr val="dk1"/>
                          </a:solidFill>
                          <a:effectLst/>
                          <a:latin typeface="Times New Roman" panose="02020603050405020304" pitchFamily="18" charset="0"/>
                          <a:ea typeface="+mn-ea"/>
                          <a:cs typeface="Times New Roman" panose="02020603050405020304" pitchFamily="18" charset="0"/>
                        </a:rPr>
                        <a:t>. Thème : </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"Comment être des héros pour la communauté de </a:t>
                      </a:r>
                      <a:r>
                        <a:rPr lang="fr-FR" sz="1600" b="1" kern="1200" dirty="0" err="1">
                          <a:solidFill>
                            <a:schemeClr val="dk1"/>
                          </a:solidFill>
                          <a:effectLst/>
                          <a:latin typeface="Times New Roman" panose="02020603050405020304" pitchFamily="18" charset="0"/>
                          <a:ea typeface="+mn-ea"/>
                          <a:cs typeface="Times New Roman" panose="02020603050405020304" pitchFamily="18" charset="0"/>
                        </a:rPr>
                        <a:t>Keur</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 </a:t>
                      </a:r>
                      <a:r>
                        <a:rPr lang="fr-FR" sz="1600" b="1" kern="1200" dirty="0" err="1">
                          <a:solidFill>
                            <a:schemeClr val="dk1"/>
                          </a:solidFill>
                          <a:effectLst/>
                          <a:latin typeface="Times New Roman" panose="02020603050405020304" pitchFamily="18" charset="0"/>
                          <a:ea typeface="+mn-ea"/>
                          <a:cs typeface="Times New Roman" panose="02020603050405020304" pitchFamily="18" charset="0"/>
                        </a:rPr>
                        <a:t>Massar</a:t>
                      </a:r>
                      <a:r>
                        <a:rPr lang="fr-FR" sz="1600" b="1" kern="1200" dirty="0">
                          <a:solidFill>
                            <a:schemeClr val="dk1"/>
                          </a:solidFill>
                          <a:effectLst/>
                          <a:latin typeface="Times New Roman" panose="02020603050405020304" pitchFamily="18" charset="0"/>
                          <a:ea typeface="+mn-ea"/>
                          <a:cs typeface="Times New Roman" panose="02020603050405020304" pitchFamily="18" charset="0"/>
                        </a:rPr>
                        <a:t> ?"</a:t>
                      </a:r>
                      <a:endParaRPr lang="fr-FR" sz="1200" b="1"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93128"/>
                  </a:ext>
                </a:extLst>
              </a:tr>
              <a:tr h="611668">
                <a:tc>
                  <a:txBody>
                    <a:bodyPr/>
                    <a:lstStyle/>
                    <a:p>
                      <a:r>
                        <a:rPr lang="fr-FR" sz="1600" dirty="0">
                          <a:latin typeface="Times New Roman" panose="02020603050405020304" pitchFamily="18" charset="0"/>
                          <a:cs typeface="Times New Roman" panose="02020603050405020304" pitchFamily="18" charset="0"/>
                        </a:rPr>
                        <a:t>11h20-12h20</a:t>
                      </a:r>
                    </a:p>
                  </a:txBody>
                  <a:tcPr/>
                </a:tc>
                <a:tc>
                  <a:txBody>
                    <a:bodyPr/>
                    <a:lstStyle/>
                    <a:p>
                      <a:r>
                        <a:rPr lang="fr-FR" sz="1600" dirty="0">
                          <a:latin typeface="Times New Roman" panose="02020603050405020304" pitchFamily="18" charset="0"/>
                          <a:cs typeface="Times New Roman" panose="02020603050405020304" pitchFamily="18" charset="0"/>
                        </a:rPr>
                        <a:t>60min</a:t>
                      </a:r>
                    </a:p>
                  </a:txBody>
                  <a:tcPr/>
                </a:tc>
                <a:tc>
                  <a:txBody>
                    <a:bodyPr/>
                    <a:lstStyle/>
                    <a:p>
                      <a:r>
                        <a:rPr lang="fr-FR" sz="1600" b="1" dirty="0">
                          <a:effectLst/>
                        </a:rPr>
                        <a:t>Agape (repas partagé)</a:t>
                      </a:r>
                    </a:p>
                  </a:txBody>
                  <a:tcPr/>
                </a:tc>
                <a:tc>
                  <a:txBody>
                    <a:bodyPr/>
                    <a:lstStyle/>
                    <a:p>
                      <a:r>
                        <a:rPr lang="fr-FR" sz="1600" dirty="0">
                          <a:effectLst/>
                        </a:rPr>
                        <a:t>Déjeuner collectif (repas apporté). Discussions autour de l’amour inconditionnel (Jean 13:34-35), la Foi et le service. Inclure bénéficiaires.</a:t>
                      </a:r>
                    </a:p>
                  </a:txBody>
                  <a:tcPr/>
                </a:tc>
                <a:extLst>
                  <a:ext uri="{0D108BD9-81ED-4DB2-BD59-A6C34878D82A}">
                    <a16:rowId xmlns:a16="http://schemas.microsoft.com/office/drawing/2014/main" val="3996939742"/>
                  </a:ext>
                </a:extLst>
              </a:tr>
              <a:tr h="611668">
                <a:tc>
                  <a:txBody>
                    <a:bodyPr/>
                    <a:lstStyle/>
                    <a:p>
                      <a:r>
                        <a:rPr lang="fr-FR" sz="1600" dirty="0">
                          <a:latin typeface="Times New Roman" panose="02020603050405020304" pitchFamily="18" charset="0"/>
                          <a:cs typeface="Times New Roman" panose="02020603050405020304" pitchFamily="18" charset="0"/>
                        </a:rPr>
                        <a:t>12h20-13h00</a:t>
                      </a:r>
                    </a:p>
                  </a:txBody>
                  <a:tcPr/>
                </a:tc>
                <a:tc>
                  <a:txBody>
                    <a:bodyPr/>
                    <a:lstStyle/>
                    <a:p>
                      <a:r>
                        <a:rPr lang="fr-FR" sz="1600" dirty="0">
                          <a:latin typeface="Times New Roman" panose="02020603050405020304" pitchFamily="18" charset="0"/>
                          <a:cs typeface="Times New Roman" panose="02020603050405020304" pitchFamily="18" charset="0"/>
                        </a:rPr>
                        <a:t>40min</a:t>
                      </a:r>
                    </a:p>
                  </a:txBody>
                  <a:tcPr/>
                </a:tc>
                <a:tc>
                  <a:txBody>
                    <a:bodyPr/>
                    <a:lstStyle/>
                    <a:p>
                      <a:r>
                        <a:rPr lang="fr-FR" sz="1600" b="1" dirty="0">
                          <a:effectLst/>
                        </a:rPr>
                        <a:t>Partage des dons</a:t>
                      </a:r>
                    </a:p>
                  </a:txBody>
                  <a:tcPr/>
                </a:tc>
                <a:tc>
                  <a:txBody>
                    <a:bodyPr/>
                    <a:lstStyle/>
                    <a:p>
                      <a:r>
                        <a:rPr lang="fr-FR" sz="1600" kern="1200" dirty="0">
                          <a:solidFill>
                            <a:schemeClr val="dk1"/>
                          </a:solidFill>
                          <a:effectLst/>
                          <a:latin typeface="Times New Roman" panose="02020603050405020304" pitchFamily="18" charset="0"/>
                          <a:ea typeface="+mn-ea"/>
                          <a:cs typeface="Times New Roman" panose="02020603050405020304" pitchFamily="18" charset="0"/>
                        </a:rPr>
                        <a:t>Distribution organisée des dons. Moments de prière personnalisés pour les bénéficiaires. Relier aux thèmes des activités (ex. : dons comme sacrifice inspiré des héros).</a:t>
                      </a:r>
                      <a:endParaRPr lang="fr-F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91774582"/>
                  </a:ext>
                </a:extLst>
              </a:tr>
              <a:tr h="310620">
                <a:tc>
                  <a:txBody>
                    <a:bodyPr/>
                    <a:lstStyle/>
                    <a:p>
                      <a:r>
                        <a:rPr lang="fr-FR" sz="1600" dirty="0">
                          <a:latin typeface="Times New Roman" panose="02020603050405020304" pitchFamily="18" charset="0"/>
                          <a:cs typeface="Times New Roman" panose="02020603050405020304" pitchFamily="18" charset="0"/>
                        </a:rPr>
                        <a:t>13h00-13h30</a:t>
                      </a:r>
                    </a:p>
                  </a:txBody>
                  <a:tcPr/>
                </a:tc>
                <a:tc>
                  <a:txBody>
                    <a:bodyPr/>
                    <a:lstStyle/>
                    <a:p>
                      <a:r>
                        <a:rPr lang="fr-FR" sz="1600" dirty="0">
                          <a:latin typeface="Times New Roman" panose="02020603050405020304" pitchFamily="18" charset="0"/>
                          <a:cs typeface="Times New Roman" panose="02020603050405020304" pitchFamily="18" charset="0"/>
                        </a:rPr>
                        <a:t>30 min</a:t>
                      </a:r>
                    </a:p>
                  </a:txBody>
                  <a:tcPr/>
                </a:tc>
                <a:tc>
                  <a:txBody>
                    <a:bodyPr/>
                    <a:lstStyle/>
                    <a:p>
                      <a:r>
                        <a:rPr lang="fr-FR" sz="1600" b="1" dirty="0">
                          <a:effectLst/>
                        </a:rPr>
                        <a:t>Clôture collective</a:t>
                      </a:r>
                    </a:p>
                  </a:txBody>
                  <a:tcPr/>
                </a:tc>
                <a:tc>
                  <a:txBody>
                    <a:bodyPr/>
                    <a:lstStyle/>
                    <a:p>
                      <a:r>
                        <a:rPr lang="fr-FR" sz="1600" b="1" dirty="0">
                          <a:effectLst/>
                        </a:rPr>
                        <a:t>Débrief rapide</a:t>
                      </a:r>
                      <a:r>
                        <a:rPr lang="fr-FR" sz="1600" dirty="0">
                          <a:effectLst/>
                        </a:rPr>
                        <a:t>, prière de remerciements, verset de clôture : Matthieu 5:16.</a:t>
                      </a:r>
                    </a:p>
                  </a:txBody>
                  <a:tcPr/>
                </a:tc>
                <a:extLst>
                  <a:ext uri="{0D108BD9-81ED-4DB2-BD59-A6C34878D82A}">
                    <a16:rowId xmlns:a16="http://schemas.microsoft.com/office/drawing/2014/main" val="3097979490"/>
                  </a:ext>
                </a:extLst>
              </a:tr>
            </a:tbl>
          </a:graphicData>
        </a:graphic>
      </p:graphicFrame>
    </p:spTree>
    <p:extLst>
      <p:ext uri="{BB962C8B-B14F-4D97-AF65-F5344CB8AC3E}">
        <p14:creationId xmlns:p14="http://schemas.microsoft.com/office/powerpoint/2010/main" val="30502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70" y="-98474"/>
            <a:ext cx="633046" cy="908323"/>
          </a:xfrm>
          <a:prstGeom prst="rect">
            <a:avLst/>
          </a:prstGeom>
          <a:noFill/>
          <a:ln>
            <a:noFill/>
          </a:ln>
        </p:spPr>
      </p:pic>
      <p:sp>
        <p:nvSpPr>
          <p:cNvPr id="5" name="Titre 1"/>
          <p:cNvSpPr txBox="1">
            <a:spLocks/>
          </p:cNvSpPr>
          <p:nvPr/>
        </p:nvSpPr>
        <p:spPr>
          <a:xfrm>
            <a:off x="2236764" y="0"/>
            <a:ext cx="8932984" cy="464234"/>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4000" dirty="0">
                <a:solidFill>
                  <a:schemeClr val="bg1"/>
                </a:solidFill>
                <a:latin typeface="Times New Roman" panose="02020603050405020304" pitchFamily="18" charset="0"/>
                <a:cs typeface="Times New Roman" panose="02020603050405020304" pitchFamily="18" charset="0"/>
              </a:rPr>
              <a:t>Visuel du jeu Time’s up des super héros </a:t>
            </a:r>
            <a:endParaRPr lang="fr-FR" sz="1600" b="1" u="sng" dirty="0">
              <a:solidFill>
                <a:schemeClr val="bg1"/>
              </a:solidFill>
              <a:latin typeface="Times New Roman" panose="02020603050405020304" pitchFamily="18" charset="0"/>
              <a:cs typeface="Times New Roman" panose="02020603050405020304" pitchFamily="18" charset="0"/>
            </a:endParaRPr>
          </a:p>
        </p:txBody>
      </p:sp>
      <p:pic>
        <p:nvPicPr>
          <p:cNvPr id="34" name="Image 33"/>
          <p:cNvPicPr>
            <a:picLocks noChangeAspect="1"/>
          </p:cNvPicPr>
          <p:nvPr/>
        </p:nvPicPr>
        <p:blipFill>
          <a:blip r:embed="rId3"/>
          <a:stretch>
            <a:fillRect/>
          </a:stretch>
        </p:blipFill>
        <p:spPr>
          <a:xfrm>
            <a:off x="492370" y="1002010"/>
            <a:ext cx="5905744" cy="3963886"/>
          </a:xfrm>
          <a:prstGeom prst="rect">
            <a:avLst/>
          </a:prstGeom>
        </p:spPr>
      </p:pic>
      <p:pic>
        <p:nvPicPr>
          <p:cNvPr id="35" name="Image 34"/>
          <p:cNvPicPr>
            <a:picLocks noChangeAspect="1"/>
          </p:cNvPicPr>
          <p:nvPr/>
        </p:nvPicPr>
        <p:blipFill>
          <a:blip r:embed="rId4"/>
          <a:stretch>
            <a:fillRect/>
          </a:stretch>
        </p:blipFill>
        <p:spPr>
          <a:xfrm>
            <a:off x="6398114" y="1266092"/>
            <a:ext cx="5793886" cy="3394309"/>
          </a:xfrm>
          <a:prstGeom prst="rect">
            <a:avLst/>
          </a:prstGeom>
        </p:spPr>
      </p:pic>
    </p:spTree>
    <p:extLst>
      <p:ext uri="{BB962C8B-B14F-4D97-AF65-F5344CB8AC3E}">
        <p14:creationId xmlns:p14="http://schemas.microsoft.com/office/powerpoint/2010/main" val="350768825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TM03457515[[fn=Vue]]</Template>
  <TotalTime>141</TotalTime>
  <Words>359</Words>
  <Application>Microsoft Office PowerPoint</Application>
  <PresentationFormat>Grand écran</PresentationFormat>
  <Paragraphs>54</Paragraphs>
  <Slides>13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Arial</vt:lpstr>
      <vt:lpstr>Century Schoolbook</vt:lpstr>
      <vt:lpstr>Times New Roman</vt:lpstr>
      <vt:lpstr>Wingdings 2</vt:lpstr>
      <vt:lpstr>View</vt:lpstr>
      <vt:lpstr>Centre polyvalent de Keur Massar Zone de recasement </vt:lpstr>
      <vt:lpstr>Une liste de trois centres nous a été fournie:  - Le CPRS (100 personnes) de Keur Massar (on y était en 2024 dans le cadre NDMC avec des enfants orphelins et handicapés) - Le centre polyvalent (50 personnes) de la zone de recasement à Keur Massar - Le Service départemental de l’action sociale (50 personnes) à Keur Massar  Nous portons notre choix cette année sur le centre polyvalent.   Nom du Contact : Cheikh Omar Fonction : Directeur Service Social Mairie de Keur Massar Nord Téléphone : +221 78 529 36 67  Nom de la directrice du Centre: Mme NDIAYE Astou </vt:lpstr>
      <vt:lpstr> Le Centre polyvalent de Keur Massar, situé dans la zone de recasement est un centre communautaire qui joue un rôle clé dans le développement social et économique de la région, axée sur la formation professionnelle et le développement socio-économique. Il a été créée par des italiens.  Les principales formations professionnelles sont: La couture, la restaurations, coiffure et informatique.  Il a trois sections: Petite section (de 3 à 5ans), Moyen section (de 6 à 14 ans) et Grande section (de 15 ans jusqu’en montant).  Il accueil des orphelins, ceux qui sont en difficultés financières, ceux qui ont été abandonnés et ceux qui ont des parents. Et il dispose de  6 salles dont trois grandes et d’une cuisine pour les repas.  </vt:lpstr>
      <vt:lpstr>Nos cibles: les ados et les adultes soit en tout 50 personnes.  Besoin exprimé en kit minimum/personne : 1 sac de de riz de 25 kg, un bidon d’huile de 5 litres et 5 kg de sucre  Date choisit: le 13 Décembre 2025 pour NDMC </vt:lpstr>
      <vt:lpstr>Photo du Centre Polyvalent</vt:lpstr>
      <vt:lpstr>Présentation PowerPoint</vt:lpstr>
      <vt:lpstr>Budget Don - Kit Alimentaire</vt:lpstr>
      <vt:lpstr>Présentation PowerPoint</vt:lpstr>
      <vt:lpstr>Budget Agapé</vt:lpstr>
      <vt:lpstr>Présentation PowerPoint</vt:lpstr>
      <vt:lpstr>Pour les ados : Time’s up des super héros est un jeu d’ambiance basé sur la reconnaissance de personnages ou de concepts à travers des descriptions, des mimes ou des mots-clés, joué en équipes et en plusieurs manches. Dans ce jeu, les personnages à deviner sont soit des super-héros fictifs (comme Superman, Wonder, Woman), soit des figures bibliques ou chrétiennes (comme Moïse, Marie, ou des saints) présentées comme des « héros » de la foi. L’objectif est de combiner de façon ludique, amusement et réflexion spirituelle, en encourageant les participants à explorer des thèmes comme le courage, le sacrifice, le service, l’engagement, le renoncement, la responsabilité ou le choix qui peuvent être liés à notre activité de dons. Mais aussi de voir la perception des jeunes et renchérir avec des versets Bibliques.  Atelier témoignage pour les Adultes: des témoignages personnels sur l’impact de la foi dans la vie des participants. Invitez les bénéficiaires des dons à y participer. Cet atelier permet de partager une expérience personnelle liée à la générosité ou au service, suivie d’une discussion en petits groupes sur des thèmes comme "Qu’est-ce que donner signifie pour vous ?", "le service comme expression de la foi", "Comment aider les autres reflète-t-il votre foi ?" etc… et renchérir avec des versets bibliques.  Activité d’évangélisation : Chaque jeu peut être suivi d’une réflexion sur un verset biblique ou une valeur chrétienne (ex. : l’amour, le service). Par exemple, après un jeu sur l’engagement, discutez de Jean 13:34-35 ("Aimez-vous les uns les autres"), sur la générosité (ex. : Matthieu 25:35-40).</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polyvalent de Keur Massar zone de recasement</dc:title>
  <dc:creator>hp</dc:creator>
  <cp:lastModifiedBy>hp</cp:lastModifiedBy>
  <cp:revision>22</cp:revision>
  <dcterms:created xsi:type="dcterms:W3CDTF">2025-08-13T21:14:19Z</dcterms:created>
  <dcterms:modified xsi:type="dcterms:W3CDTF">2025-08-26T13:47:01Z</dcterms:modified>
</cp:coreProperties>
</file>