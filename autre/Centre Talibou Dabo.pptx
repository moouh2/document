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62" r:id="rId5"/>
    <p:sldId id="266" r:id="rId6"/>
    <p:sldId id="265" r:id="rId7"/>
    <p:sldId id="263" r:id="rId8"/>
    <p:sldId id="267"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2" d="100"/>
          <a:sy n="72" d="100"/>
        </p:scale>
        <p:origin x="660"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fr-FR"/>
              <a:t>Modifiez le style du titre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8/28/2025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‹N°›</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8C94063-DF36-4330-A365-08DA1FA5B7D6}" type="datetimeFigureOut">
              <a:rPr lang="en-US" dirty="0"/>
              <a:t>8/28/2025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fr-FR"/>
              <a:t>Modifiez le style du titre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908A7C6C-0F39-4D70-8E8D-FE5B9C95FA73}" type="datetimeFigureOut">
              <a:rPr lang="en-US" dirty="0"/>
              <a:t>8/28/2025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FCFA4AC-08CC-42CE-BD01-C191750A04EC}" type="datetimeFigureOut">
              <a:rPr lang="en-US" dirty="0"/>
              <a:t>8/28/2025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fr-FR"/>
              <a:t>Modifier les styles du texte du masque</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BA7A723-92A7-435B-B681-F25B092FEFEB}" type="datetimeFigureOut">
              <a:rPr lang="en-US" dirty="0"/>
              <a:t>8/28/2025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F170639-886C-4FCF-9EAB-ABB5DA3F3F4A}" type="datetimeFigureOut">
              <a:rPr lang="en-US" dirty="0"/>
              <a:t>8/28/2025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8/28/2025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fr-FR"/>
              <a:t>Modifiez le style du titre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6F53789A-C914-4DB1-8815-80B5EC7335C5}" type="datetimeFigureOut">
              <a:rPr lang="en-US" dirty="0"/>
              <a:t>8/28/2025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5E6440AA-91A0-436F-8FDB-C0F939DCAE21}" type="datetimeFigureOut">
              <a:rPr lang="en-US" dirty="0"/>
              <a:t>8/28/2025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033E54A-A8CA-48C1-9504-691B58049D29}" type="datetimeFigureOut">
              <a:rPr lang="en-US" dirty="0"/>
              <a:t>8/28/2025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5F6C806-BBF7-471C-9527-881CE2266695}" type="datetimeFigureOut">
              <a:rPr lang="en-US" dirty="0"/>
              <a:t>8/28/2025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8/28/2025</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309489" y="1505243"/>
            <a:ext cx="11577711" cy="3488787"/>
          </a:xfrm>
        </p:spPr>
        <p:txBody>
          <a:bodyPr anchor="ctr">
            <a:noAutofit/>
          </a:bodyPr>
          <a:lstStyle/>
          <a:p>
            <a:pPr algn="ctr">
              <a:lnSpc>
                <a:spcPct val="200000"/>
              </a:lnSpc>
            </a:pPr>
            <a:r>
              <a:rPr lang="fr-FR" sz="6600" dirty="0">
                <a:solidFill>
                  <a:schemeClr val="bg1"/>
                </a:solidFill>
                <a:latin typeface="Times New Roman" panose="02020603050405020304" pitchFamily="18" charset="0"/>
                <a:cs typeface="Times New Roman" panose="02020603050405020304" pitchFamily="18" charset="0"/>
              </a:rPr>
              <a:t>Centre</a:t>
            </a:r>
            <a:r>
              <a:rPr lang="fr-FR" sz="6600" dirty="0">
                <a:latin typeface="Times New Roman" panose="02020603050405020304" pitchFamily="18" charset="0"/>
                <a:cs typeface="Times New Roman" panose="02020603050405020304" pitchFamily="18" charset="0"/>
              </a:rPr>
              <a:t> </a:t>
            </a:r>
            <a:r>
              <a:rPr lang="fr-FR" sz="6600" dirty="0" err="1" smtClean="0">
                <a:solidFill>
                  <a:schemeClr val="bg1"/>
                </a:solidFill>
                <a:latin typeface="Times New Roman" panose="02020603050405020304" pitchFamily="18" charset="0"/>
                <a:cs typeface="Times New Roman" panose="02020603050405020304" pitchFamily="18" charset="0"/>
              </a:rPr>
              <a:t>Talibou</a:t>
            </a:r>
            <a:r>
              <a:rPr lang="fr-FR" sz="6600" dirty="0" smtClean="0">
                <a:solidFill>
                  <a:schemeClr val="bg1"/>
                </a:solidFill>
                <a:latin typeface="Times New Roman" panose="02020603050405020304" pitchFamily="18" charset="0"/>
                <a:cs typeface="Times New Roman" panose="02020603050405020304" pitchFamily="18" charset="0"/>
              </a:rPr>
              <a:t> </a:t>
            </a:r>
            <a:r>
              <a:rPr lang="fr-FR" sz="6600" dirty="0" err="1" smtClean="0">
                <a:solidFill>
                  <a:schemeClr val="bg1"/>
                </a:solidFill>
                <a:latin typeface="Times New Roman" panose="02020603050405020304" pitchFamily="18" charset="0"/>
                <a:cs typeface="Times New Roman" panose="02020603050405020304" pitchFamily="18" charset="0"/>
              </a:rPr>
              <a:t>Dabo</a:t>
            </a:r>
            <a:r>
              <a:rPr lang="fr-FR" sz="6600" dirty="0" smtClean="0">
                <a:solidFill>
                  <a:schemeClr val="bg1"/>
                </a:solidFill>
                <a:latin typeface="Times New Roman" panose="02020603050405020304" pitchFamily="18" charset="0"/>
                <a:cs typeface="Times New Roman" panose="02020603050405020304" pitchFamily="18" charset="0"/>
              </a:rPr>
              <a:t> de Grand-Yoff</a:t>
            </a:r>
            <a:endParaRPr lang="fr-FR" sz="6600" dirty="0">
              <a:solidFill>
                <a:schemeClr val="bg1"/>
              </a:solidFill>
              <a:latin typeface="Times New Roman" panose="02020603050405020304" pitchFamily="18" charset="0"/>
              <a:cs typeface="Times New Roman" panose="02020603050405020304" pitchFamily="18" charset="0"/>
            </a:endParaRPr>
          </a:p>
        </p:txBody>
      </p:sp>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Tree>
    <p:extLst>
      <p:ext uri="{BB962C8B-B14F-4D97-AF65-F5344CB8AC3E}">
        <p14:creationId xmlns:p14="http://schemas.microsoft.com/office/powerpoint/2010/main" val="260752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614289" y="1378634"/>
            <a:ext cx="11577711" cy="4656406"/>
          </a:xfrm>
        </p:spPr>
        <p:txBody>
          <a:bodyPr anchor="ctr">
            <a:noAutofit/>
          </a:bodyPr>
          <a:lstStyle/>
          <a:p>
            <a:r>
              <a:rPr lang="fr-FR" sz="2400" dirty="0">
                <a:solidFill>
                  <a:schemeClr val="bg1"/>
                </a:solidFill>
              </a:rPr>
              <a:t>Centre </a:t>
            </a:r>
            <a:r>
              <a:rPr lang="fr-FR" sz="2400" dirty="0" err="1">
                <a:solidFill>
                  <a:schemeClr val="bg1"/>
                </a:solidFill>
              </a:rPr>
              <a:t>Talibou</a:t>
            </a:r>
            <a:r>
              <a:rPr lang="fr-FR" sz="2400" dirty="0">
                <a:solidFill>
                  <a:schemeClr val="bg1"/>
                </a:solidFill>
              </a:rPr>
              <a:t> </a:t>
            </a:r>
            <a:r>
              <a:rPr lang="fr-FR" sz="2400" dirty="0" err="1">
                <a:solidFill>
                  <a:schemeClr val="bg1"/>
                </a:solidFill>
              </a:rPr>
              <a:t>Dabo</a:t>
            </a:r>
            <a:r>
              <a:rPr lang="fr-FR" sz="2400" dirty="0">
                <a:solidFill>
                  <a:schemeClr val="bg1"/>
                </a:solidFill>
              </a:rPr>
              <a:t> Yoff vers l’hôpital avant la zone de </a:t>
            </a:r>
            <a:r>
              <a:rPr lang="fr-FR" sz="2400" dirty="0" smtClean="0">
                <a:solidFill>
                  <a:schemeClr val="bg1"/>
                </a:solidFill>
              </a:rPr>
              <a:t>captage</a:t>
            </a:r>
            <a:br>
              <a:rPr lang="fr-FR" sz="2400" dirty="0" smtClean="0">
                <a:solidFill>
                  <a:schemeClr val="bg1"/>
                </a:solidFill>
              </a:rPr>
            </a:br>
            <a:r>
              <a:rPr lang="fr-FR" sz="2400" dirty="0">
                <a:solidFill>
                  <a:schemeClr val="bg1"/>
                </a:solidFill>
              </a:rPr>
              <a:t/>
            </a:r>
            <a:br>
              <a:rPr lang="fr-FR" sz="2400" dirty="0">
                <a:solidFill>
                  <a:schemeClr val="bg1"/>
                </a:solidFill>
              </a:rPr>
            </a:br>
            <a:r>
              <a:rPr lang="fr-FR" sz="2400" dirty="0" smtClean="0">
                <a:solidFill>
                  <a:schemeClr val="bg1"/>
                </a:solidFill>
              </a:rPr>
              <a:t>Contact</a:t>
            </a:r>
            <a:r>
              <a:rPr lang="fr-FR" sz="2400" dirty="0">
                <a:solidFill>
                  <a:schemeClr val="bg1"/>
                </a:solidFill>
              </a:rPr>
              <a:t>: Mr </a:t>
            </a:r>
            <a:r>
              <a:rPr lang="fr-FR" sz="2400" dirty="0" smtClean="0">
                <a:solidFill>
                  <a:schemeClr val="bg1"/>
                </a:solidFill>
              </a:rPr>
              <a:t>Faye</a:t>
            </a:r>
            <a:br>
              <a:rPr lang="fr-FR" sz="2400" dirty="0" smtClean="0">
                <a:solidFill>
                  <a:schemeClr val="bg1"/>
                </a:solidFill>
              </a:rPr>
            </a:br>
            <a:r>
              <a:rPr lang="fr-FR" sz="2400" dirty="0">
                <a:solidFill>
                  <a:schemeClr val="bg1"/>
                </a:solidFill>
              </a:rPr>
              <a:t/>
            </a:r>
            <a:br>
              <a:rPr lang="fr-FR" sz="2400" dirty="0">
                <a:solidFill>
                  <a:schemeClr val="bg1"/>
                </a:solidFill>
              </a:rPr>
            </a:br>
            <a:r>
              <a:rPr lang="fr-FR" sz="2400" dirty="0" smtClean="0">
                <a:solidFill>
                  <a:schemeClr val="bg1"/>
                </a:solidFill>
              </a:rPr>
              <a:t>Nombre </a:t>
            </a:r>
            <a:r>
              <a:rPr lang="fr-FR" sz="2400" dirty="0">
                <a:solidFill>
                  <a:schemeClr val="bg1"/>
                </a:solidFill>
              </a:rPr>
              <a:t>d’enfants</a:t>
            </a:r>
            <a:r>
              <a:rPr lang="fr-FR" sz="2400" dirty="0" smtClean="0">
                <a:solidFill>
                  <a:schemeClr val="bg1"/>
                </a:solidFill>
              </a:rPr>
              <a:t>: </a:t>
            </a:r>
            <a:r>
              <a:rPr lang="fr-FR" sz="2400" dirty="0" err="1" smtClean="0">
                <a:solidFill>
                  <a:schemeClr val="bg1"/>
                </a:solidFill>
              </a:rPr>
              <a:t>Prescolaire</a:t>
            </a:r>
            <a:r>
              <a:rPr lang="fr-FR" sz="2400" dirty="0">
                <a:solidFill>
                  <a:schemeClr val="bg1"/>
                </a:solidFill>
              </a:rPr>
              <a:t>: 83 élèves </a:t>
            </a:r>
            <a:r>
              <a:rPr lang="fr-FR" sz="2400" dirty="0" smtClean="0">
                <a:solidFill>
                  <a:schemeClr val="bg1"/>
                </a:solidFill>
              </a:rPr>
              <a:t/>
            </a:r>
            <a:br>
              <a:rPr lang="fr-FR" sz="2400" dirty="0" smtClean="0">
                <a:solidFill>
                  <a:schemeClr val="bg1"/>
                </a:solidFill>
              </a:rPr>
            </a:br>
            <a:r>
              <a:rPr lang="fr-FR" sz="2400" dirty="0">
                <a:solidFill>
                  <a:schemeClr val="bg1"/>
                </a:solidFill>
              </a:rPr>
              <a:t/>
            </a:r>
            <a:br>
              <a:rPr lang="fr-FR" sz="2400" dirty="0">
                <a:solidFill>
                  <a:schemeClr val="bg1"/>
                </a:solidFill>
              </a:rPr>
            </a:br>
            <a:r>
              <a:rPr lang="fr-FR" sz="2400" dirty="0" err="1" smtClean="0">
                <a:solidFill>
                  <a:schemeClr val="bg1"/>
                </a:solidFill>
              </a:rPr>
              <a:t>Primaibre</a:t>
            </a:r>
            <a:r>
              <a:rPr lang="fr-FR" sz="2400" dirty="0">
                <a:solidFill>
                  <a:schemeClr val="bg1"/>
                </a:solidFill>
              </a:rPr>
              <a:t>: 65Unité spéciale pour les handicapés lourd (ex: IMC): </a:t>
            </a:r>
            <a:r>
              <a:rPr lang="fr-FR" sz="2400" dirty="0" smtClean="0">
                <a:solidFill>
                  <a:schemeClr val="bg1"/>
                </a:solidFill>
              </a:rPr>
              <a:t>12</a:t>
            </a:r>
            <a:br>
              <a:rPr lang="fr-FR" sz="2400" dirty="0" smtClean="0">
                <a:solidFill>
                  <a:schemeClr val="bg1"/>
                </a:solidFill>
              </a:rPr>
            </a:br>
            <a:r>
              <a:rPr lang="fr-FR" sz="2400" dirty="0">
                <a:solidFill>
                  <a:schemeClr val="bg1"/>
                </a:solidFill>
              </a:rPr>
              <a:t/>
            </a:r>
            <a:br>
              <a:rPr lang="fr-FR" sz="2400" dirty="0">
                <a:solidFill>
                  <a:schemeClr val="bg1"/>
                </a:solidFill>
              </a:rPr>
            </a:br>
            <a:r>
              <a:rPr lang="fr-FR" sz="2400" dirty="0" smtClean="0">
                <a:solidFill>
                  <a:schemeClr val="bg1"/>
                </a:solidFill>
              </a:rPr>
              <a:t>Total</a:t>
            </a:r>
            <a:r>
              <a:rPr lang="fr-FR" sz="2400" dirty="0">
                <a:solidFill>
                  <a:schemeClr val="bg1"/>
                </a:solidFill>
              </a:rPr>
              <a:t>: 160 pour l’année </a:t>
            </a:r>
            <a:r>
              <a:rPr lang="fr-FR" sz="2400" dirty="0" smtClean="0">
                <a:solidFill>
                  <a:schemeClr val="bg1"/>
                </a:solidFill>
              </a:rPr>
              <a:t>2024'2025</a:t>
            </a:r>
            <a:br>
              <a:rPr lang="fr-FR" sz="2400" dirty="0" smtClean="0">
                <a:solidFill>
                  <a:schemeClr val="bg1"/>
                </a:solidFill>
              </a:rPr>
            </a:br>
            <a:r>
              <a:rPr lang="fr-FR" sz="2400" dirty="0">
                <a:solidFill>
                  <a:schemeClr val="bg1"/>
                </a:solidFill>
              </a:rPr>
              <a:t/>
            </a:r>
            <a:br>
              <a:rPr lang="fr-FR" sz="2400" dirty="0">
                <a:solidFill>
                  <a:schemeClr val="bg1"/>
                </a:solidFill>
              </a:rPr>
            </a:br>
            <a:r>
              <a:rPr lang="fr-FR" sz="2400" dirty="0" smtClean="0">
                <a:solidFill>
                  <a:schemeClr val="bg1"/>
                </a:solidFill>
              </a:rPr>
              <a:t>Acticité et besoin : </a:t>
            </a:r>
            <a:r>
              <a:rPr lang="fr-FR" sz="2400" dirty="0">
                <a:solidFill>
                  <a:schemeClr val="bg1"/>
                </a:solidFill>
              </a:rPr>
              <a:t>Dons de jouets pour l’arbre de Noël qu'il organise annuellement</a:t>
            </a:r>
            <a:r>
              <a:rPr lang="fr-FR" sz="2400" dirty="0">
                <a:solidFill>
                  <a:schemeClr val="bg1"/>
                </a:solidFill>
              </a:rPr>
              <a:t/>
            </a:r>
            <a:br>
              <a:rPr lang="fr-FR" sz="2400" dirty="0">
                <a:solidFill>
                  <a:schemeClr val="bg1"/>
                </a:solidFill>
              </a:rPr>
            </a:br>
            <a:endParaRPr lang="fr-FR" sz="2400" dirty="0">
              <a:solidFill>
                <a:schemeClr val="bg1"/>
              </a:solidFill>
            </a:endParaRPr>
          </a:p>
        </p:txBody>
      </p:sp>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5" name="Titre 1"/>
          <p:cNvSpPr txBox="1">
            <a:spLocks/>
          </p:cNvSpPr>
          <p:nvPr/>
        </p:nvSpPr>
        <p:spPr>
          <a:xfrm>
            <a:off x="5226149" y="140677"/>
            <a:ext cx="3200400" cy="1125416"/>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fr-FR" sz="3200" b="1" u="sng" dirty="0">
                <a:solidFill>
                  <a:schemeClr val="bg1"/>
                </a:solidFill>
              </a:rPr>
              <a:t>Information</a:t>
            </a:r>
            <a:br>
              <a:rPr lang="fr-FR" sz="3200" b="1" u="sng" dirty="0">
                <a:solidFill>
                  <a:schemeClr val="bg1"/>
                </a:solidFill>
              </a:rPr>
            </a:br>
            <a:r>
              <a:rPr lang="fr-FR" sz="3200" dirty="0"/>
              <a:t/>
            </a:r>
            <a:br>
              <a:rPr lang="fr-FR" sz="3200" dirty="0"/>
            </a:br>
            <a:r>
              <a:rPr lang="fr-FR" sz="2200" dirty="0"/>
              <a:t/>
            </a:r>
            <a:br>
              <a:rPr lang="fr-FR" sz="2200" dirty="0"/>
            </a:br>
            <a:endParaRPr lang="fr-FR" sz="1000" dirty="0"/>
          </a:p>
        </p:txBody>
      </p:sp>
    </p:spTree>
    <p:extLst>
      <p:ext uri="{BB962C8B-B14F-4D97-AF65-F5344CB8AC3E}">
        <p14:creationId xmlns:p14="http://schemas.microsoft.com/office/powerpoint/2010/main" val="3884429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492369" y="1840126"/>
            <a:ext cx="11577711" cy="4295631"/>
          </a:xfrm>
        </p:spPr>
        <p:txBody>
          <a:bodyPr anchor="ctr">
            <a:noAutofit/>
          </a:bodyPr>
          <a:lstStyle/>
          <a:p>
            <a:pPr fontAlgn="base"/>
            <a:r>
              <a:rPr lang="fr-FR" sz="2400" dirty="0" smtClean="0">
                <a:solidFill>
                  <a:schemeClr val="bg1"/>
                </a:solidFill>
                <a:latin typeface="Century Schoolbook (En-têtes)"/>
                <a:cs typeface="Times New Roman" panose="02020603050405020304" pitchFamily="18" charset="0"/>
              </a:rPr>
              <a:t>	</a:t>
            </a:r>
            <a:r>
              <a:rPr lang="fr-FR" sz="2400" dirty="0">
                <a:solidFill>
                  <a:schemeClr val="bg1"/>
                </a:solidFill>
                <a:latin typeface="Century Schoolbook (En-têtes)"/>
                <a:cs typeface="Times New Roman" panose="02020603050405020304" pitchFamily="18" charset="0"/>
              </a:rPr>
              <a:t>Situé à Grand Yoff, Le Centre </a:t>
            </a:r>
            <a:r>
              <a:rPr lang="fr-FR" sz="2400" dirty="0" err="1">
                <a:solidFill>
                  <a:schemeClr val="bg1"/>
                </a:solidFill>
                <a:latin typeface="Century Schoolbook (En-têtes)"/>
                <a:cs typeface="Times New Roman" panose="02020603050405020304" pitchFamily="18" charset="0"/>
              </a:rPr>
              <a:t>Talibou</a:t>
            </a:r>
            <a:r>
              <a:rPr lang="fr-FR" sz="2400" dirty="0">
                <a:solidFill>
                  <a:schemeClr val="bg1"/>
                </a:solidFill>
                <a:latin typeface="Century Schoolbook (En-têtes)"/>
                <a:cs typeface="Times New Roman" panose="02020603050405020304" pitchFamily="18" charset="0"/>
              </a:rPr>
              <a:t> </a:t>
            </a:r>
            <a:r>
              <a:rPr lang="fr-FR" sz="2400" dirty="0" err="1">
                <a:solidFill>
                  <a:schemeClr val="bg1"/>
                </a:solidFill>
                <a:latin typeface="Century Schoolbook (En-têtes)"/>
                <a:cs typeface="Times New Roman" panose="02020603050405020304" pitchFamily="18" charset="0"/>
              </a:rPr>
              <a:t>Dabo</a:t>
            </a:r>
            <a:r>
              <a:rPr lang="fr-FR" sz="2400" dirty="0">
                <a:solidFill>
                  <a:schemeClr val="bg1"/>
                </a:solidFill>
                <a:latin typeface="Century Schoolbook (En-têtes)"/>
                <a:cs typeface="Times New Roman" panose="02020603050405020304" pitchFamily="18" charset="0"/>
              </a:rPr>
              <a:t> (CTD) est une institution publique d’éducation et de réadaptation pour enfants handicapés physiques. Il a été conçu par le professeur Idrissa </a:t>
            </a:r>
            <a:r>
              <a:rPr lang="fr-FR" sz="2400" dirty="0" err="1">
                <a:solidFill>
                  <a:schemeClr val="bg1"/>
                </a:solidFill>
                <a:latin typeface="Century Schoolbook (En-têtes)"/>
                <a:cs typeface="Times New Roman" panose="02020603050405020304" pitchFamily="18" charset="0"/>
              </a:rPr>
              <a:t>Pouye</a:t>
            </a:r>
            <a:r>
              <a:rPr lang="fr-FR" sz="2400" dirty="0">
                <a:solidFill>
                  <a:schemeClr val="bg1"/>
                </a:solidFill>
                <a:latin typeface="Century Schoolbook (En-têtes)"/>
                <a:cs typeface="Times New Roman" panose="02020603050405020304" pitchFamily="18" charset="0"/>
              </a:rPr>
              <a:t> et a été réalisé et équipé par la Fondation Nationale d’Action Sociale du Sénégal (FNASS) en 1981</a:t>
            </a:r>
            <a:r>
              <a:rPr lang="fr-FR" sz="2400" dirty="0" smtClean="0">
                <a:solidFill>
                  <a:schemeClr val="bg1"/>
                </a:solidFill>
                <a:latin typeface="Century Schoolbook (En-têtes)"/>
                <a:cs typeface="Times New Roman" panose="02020603050405020304" pitchFamily="18" charset="0"/>
              </a:rPr>
              <a:t>.</a:t>
            </a:r>
            <a:br>
              <a:rPr lang="fr-FR" sz="2400" dirty="0" smtClean="0">
                <a:solidFill>
                  <a:schemeClr val="bg1"/>
                </a:solidFill>
                <a:latin typeface="Century Schoolbook (En-têtes)"/>
                <a:cs typeface="Times New Roman" panose="02020603050405020304" pitchFamily="18" charset="0"/>
              </a:rPr>
            </a:br>
            <a:r>
              <a:rPr lang="fr-FR" sz="2400" dirty="0" smtClean="0">
                <a:solidFill>
                  <a:schemeClr val="bg1"/>
                </a:solidFill>
                <a:latin typeface="Century Schoolbook (En-têtes)"/>
                <a:cs typeface="Times New Roman" panose="02020603050405020304" pitchFamily="18" charset="0"/>
              </a:rPr>
              <a:t/>
            </a:r>
            <a:br>
              <a:rPr lang="fr-FR" sz="2400" dirty="0" smtClean="0">
                <a:solidFill>
                  <a:schemeClr val="bg1"/>
                </a:solidFill>
                <a:latin typeface="Century Schoolbook (En-têtes)"/>
                <a:cs typeface="Times New Roman" panose="02020603050405020304" pitchFamily="18" charset="0"/>
              </a:rPr>
            </a:br>
            <a:r>
              <a:rPr lang="fr-FR" sz="2400" dirty="0">
                <a:solidFill>
                  <a:schemeClr val="bg1"/>
                </a:solidFill>
                <a:latin typeface="Century Schoolbook (En-têtes)"/>
              </a:rPr>
              <a:t>La mission du Centre </a:t>
            </a:r>
            <a:r>
              <a:rPr lang="fr-FR" sz="2400" dirty="0" err="1">
                <a:solidFill>
                  <a:schemeClr val="bg1"/>
                </a:solidFill>
                <a:latin typeface="Century Schoolbook (En-têtes)"/>
              </a:rPr>
              <a:t>Talibou</a:t>
            </a:r>
            <a:r>
              <a:rPr lang="fr-FR" sz="2400" dirty="0">
                <a:solidFill>
                  <a:schemeClr val="bg1"/>
                </a:solidFill>
                <a:latin typeface="Century Schoolbook (En-têtes)"/>
              </a:rPr>
              <a:t> </a:t>
            </a:r>
            <a:r>
              <a:rPr lang="fr-FR" sz="2400" dirty="0" err="1">
                <a:solidFill>
                  <a:schemeClr val="bg1"/>
                </a:solidFill>
                <a:latin typeface="Century Schoolbook (En-têtes)"/>
              </a:rPr>
              <a:t>Dabo</a:t>
            </a:r>
            <a:r>
              <a:rPr lang="fr-FR" sz="2400" dirty="0">
                <a:solidFill>
                  <a:schemeClr val="bg1"/>
                </a:solidFill>
                <a:latin typeface="Century Schoolbook (En-têtes)"/>
              </a:rPr>
              <a:t> est constituée par la réalisation d’un certain nombre d’objectifs vitaux :</a:t>
            </a:r>
            <a:br>
              <a:rPr lang="fr-FR" sz="2400" dirty="0">
                <a:solidFill>
                  <a:schemeClr val="bg1"/>
                </a:solidFill>
                <a:latin typeface="Century Schoolbook (En-têtes)"/>
              </a:rPr>
            </a:br>
            <a:r>
              <a:rPr lang="fr-FR" sz="2400" dirty="0" smtClean="0">
                <a:solidFill>
                  <a:schemeClr val="bg1"/>
                </a:solidFill>
                <a:latin typeface="Century Schoolbook (En-têtes)"/>
              </a:rPr>
              <a:t>- Participer </a:t>
            </a:r>
            <a:r>
              <a:rPr lang="fr-FR" sz="2400" dirty="0">
                <a:solidFill>
                  <a:schemeClr val="bg1"/>
                </a:solidFill>
                <a:latin typeface="Century Schoolbook (En-têtes)"/>
              </a:rPr>
              <a:t>à la réalisation de la politique d’intégration socio-économique des personnes handicapées physiques, de la manière la plus harmonieuse possible</a:t>
            </a:r>
            <a:br>
              <a:rPr lang="fr-FR" sz="2400" dirty="0">
                <a:solidFill>
                  <a:schemeClr val="bg1"/>
                </a:solidFill>
                <a:latin typeface="Century Schoolbook (En-têtes)"/>
              </a:rPr>
            </a:br>
            <a:r>
              <a:rPr lang="fr-FR" sz="2400" dirty="0" smtClean="0">
                <a:solidFill>
                  <a:schemeClr val="bg1"/>
                </a:solidFill>
                <a:latin typeface="Century Schoolbook (En-têtes)"/>
              </a:rPr>
              <a:t>- Prendre </a:t>
            </a:r>
            <a:r>
              <a:rPr lang="fr-FR" sz="2400" dirty="0">
                <a:solidFill>
                  <a:schemeClr val="bg1"/>
                </a:solidFill>
                <a:latin typeface="Century Schoolbook (En-têtes)"/>
              </a:rPr>
              <a:t>en charge les enfants handicapés moteurs dans les domaines éducationnel, social et de la réadaptation fonctionnelle</a:t>
            </a:r>
            <a:r>
              <a:rPr lang="fr-FR" sz="2400" dirty="0" smtClean="0">
                <a:solidFill>
                  <a:schemeClr val="bg1"/>
                </a:solidFill>
                <a:latin typeface="Century Schoolbook (En-têtes)"/>
              </a:rPr>
              <a:t>.</a:t>
            </a:r>
            <a:br>
              <a:rPr lang="fr-FR" sz="2400" dirty="0" smtClean="0">
                <a:solidFill>
                  <a:schemeClr val="bg1"/>
                </a:solidFill>
                <a:latin typeface="Century Schoolbook (En-têtes)"/>
              </a:rPr>
            </a:br>
            <a:r>
              <a:rPr lang="fr-FR" sz="2400" dirty="0">
                <a:solidFill>
                  <a:schemeClr val="bg1"/>
                </a:solidFill>
                <a:latin typeface="Century Schoolbook (En-têtes)"/>
              </a:rPr>
              <a:t>Le Centre </a:t>
            </a:r>
            <a:r>
              <a:rPr lang="fr-FR" sz="2400" dirty="0" err="1">
                <a:solidFill>
                  <a:schemeClr val="bg1"/>
                </a:solidFill>
                <a:latin typeface="Century Schoolbook (En-têtes)"/>
              </a:rPr>
              <a:t>Talibou</a:t>
            </a:r>
            <a:r>
              <a:rPr lang="fr-FR" sz="2400" dirty="0">
                <a:solidFill>
                  <a:schemeClr val="bg1"/>
                </a:solidFill>
                <a:latin typeface="Century Schoolbook (En-têtes)"/>
              </a:rPr>
              <a:t> </a:t>
            </a:r>
            <a:r>
              <a:rPr lang="fr-FR" sz="2400" dirty="0" err="1">
                <a:solidFill>
                  <a:schemeClr val="bg1"/>
                </a:solidFill>
                <a:latin typeface="Century Schoolbook (En-têtes)"/>
              </a:rPr>
              <a:t>Dabo</a:t>
            </a:r>
            <a:r>
              <a:rPr lang="fr-FR" sz="2400" dirty="0">
                <a:solidFill>
                  <a:schemeClr val="bg1"/>
                </a:solidFill>
                <a:latin typeface="Century Schoolbook (En-têtes)"/>
              </a:rPr>
              <a:t> est composé de :</a:t>
            </a:r>
            <a:r>
              <a:rPr lang="fr-FR" sz="2400" dirty="0">
                <a:solidFill>
                  <a:schemeClr val="bg1"/>
                </a:solidFill>
                <a:latin typeface="Century Schoolbook (En-têtes)"/>
              </a:rPr>
              <a:t/>
            </a:r>
            <a:br>
              <a:rPr lang="fr-FR" sz="2400" dirty="0">
                <a:solidFill>
                  <a:schemeClr val="bg1"/>
                </a:solidFill>
                <a:latin typeface="Century Schoolbook (En-têtes)"/>
              </a:rPr>
            </a:br>
            <a:r>
              <a:rPr lang="fr-FR" sz="2400" dirty="0" smtClean="0">
                <a:solidFill>
                  <a:schemeClr val="bg1"/>
                </a:solidFill>
                <a:latin typeface="Century Schoolbook (En-têtes)"/>
              </a:rPr>
              <a:t>- Un </a:t>
            </a:r>
            <a:r>
              <a:rPr lang="fr-FR" sz="2400" dirty="0">
                <a:solidFill>
                  <a:schemeClr val="bg1"/>
                </a:solidFill>
                <a:latin typeface="Century Schoolbook (En-têtes)"/>
              </a:rPr>
              <a:t>Médecin Rééducateur, Directeur du Centre</a:t>
            </a:r>
            <a:r>
              <a:rPr lang="fr-FR" sz="2400" dirty="0">
                <a:solidFill>
                  <a:schemeClr val="bg1"/>
                </a:solidFill>
                <a:latin typeface="Century Schoolbook (En-têtes)"/>
              </a:rPr>
              <a:t/>
            </a:r>
            <a:br>
              <a:rPr lang="fr-FR" sz="2400" dirty="0">
                <a:solidFill>
                  <a:schemeClr val="bg1"/>
                </a:solidFill>
                <a:latin typeface="Century Schoolbook (En-têtes)"/>
              </a:rPr>
            </a:br>
            <a:r>
              <a:rPr lang="fr-FR" sz="2400" dirty="0" smtClean="0">
                <a:solidFill>
                  <a:schemeClr val="bg1"/>
                </a:solidFill>
                <a:latin typeface="Century Schoolbook (En-têtes)"/>
              </a:rPr>
              <a:t>- Deux </a:t>
            </a:r>
            <a:r>
              <a:rPr lang="fr-FR" sz="2400" dirty="0">
                <a:solidFill>
                  <a:schemeClr val="bg1"/>
                </a:solidFill>
                <a:latin typeface="Century Schoolbook (En-têtes)"/>
              </a:rPr>
              <a:t>kinésithérapeutes</a:t>
            </a:r>
            <a:r>
              <a:rPr lang="fr-FR" sz="2400" dirty="0">
                <a:solidFill>
                  <a:schemeClr val="bg1"/>
                </a:solidFill>
                <a:latin typeface="Century Schoolbook (En-têtes)"/>
              </a:rPr>
              <a:t/>
            </a:r>
            <a:br>
              <a:rPr lang="fr-FR" sz="2400" dirty="0">
                <a:solidFill>
                  <a:schemeClr val="bg1"/>
                </a:solidFill>
                <a:latin typeface="Century Schoolbook (En-têtes)"/>
              </a:rPr>
            </a:br>
            <a:r>
              <a:rPr lang="fr-FR" sz="2400" dirty="0" smtClean="0">
                <a:solidFill>
                  <a:schemeClr val="bg1"/>
                </a:solidFill>
                <a:latin typeface="Century Schoolbook (En-têtes)"/>
              </a:rPr>
              <a:t>- Six </a:t>
            </a:r>
            <a:r>
              <a:rPr lang="fr-FR" sz="2400" dirty="0">
                <a:solidFill>
                  <a:schemeClr val="bg1"/>
                </a:solidFill>
                <a:latin typeface="Century Schoolbook (En-têtes)"/>
              </a:rPr>
              <a:t>aide-kiné</a:t>
            </a:r>
            <a:r>
              <a:rPr lang="fr-FR" sz="2400" dirty="0">
                <a:solidFill>
                  <a:schemeClr val="bg1"/>
                </a:solidFill>
                <a:latin typeface="Century Schoolbook (En-têtes)"/>
              </a:rPr>
              <a:t/>
            </a:r>
            <a:br>
              <a:rPr lang="fr-FR" sz="2400" dirty="0">
                <a:solidFill>
                  <a:schemeClr val="bg1"/>
                </a:solidFill>
                <a:latin typeface="Century Schoolbook (En-têtes)"/>
              </a:rPr>
            </a:br>
            <a:r>
              <a:rPr lang="fr-FR" sz="2400" dirty="0" smtClean="0">
                <a:solidFill>
                  <a:schemeClr val="bg1"/>
                </a:solidFill>
                <a:latin typeface="Century Schoolbook (En-têtes)"/>
              </a:rPr>
              <a:t>- Deux </a:t>
            </a:r>
            <a:r>
              <a:rPr lang="fr-FR" sz="2400" dirty="0">
                <a:solidFill>
                  <a:schemeClr val="bg1"/>
                </a:solidFill>
                <a:latin typeface="Century Schoolbook (En-têtes)"/>
              </a:rPr>
              <a:t>assistantes sociales</a:t>
            </a:r>
            <a:r>
              <a:rPr lang="fr-FR" sz="2400" dirty="0">
                <a:solidFill>
                  <a:schemeClr val="bg1"/>
                </a:solidFill>
                <a:latin typeface="Century Schoolbook (En-têtes)"/>
              </a:rPr>
              <a:t/>
            </a:r>
            <a:br>
              <a:rPr lang="fr-FR" sz="2400" dirty="0">
                <a:solidFill>
                  <a:schemeClr val="bg1"/>
                </a:solidFill>
                <a:latin typeface="Century Schoolbook (En-têtes)"/>
              </a:rPr>
            </a:br>
            <a:r>
              <a:rPr lang="fr-FR" sz="2400" dirty="0" smtClean="0">
                <a:solidFill>
                  <a:schemeClr val="bg1"/>
                </a:solidFill>
                <a:latin typeface="Century Schoolbook (En-têtes)"/>
              </a:rPr>
              <a:t>- Deux </a:t>
            </a:r>
            <a:r>
              <a:rPr lang="fr-FR" sz="2400" dirty="0">
                <a:solidFill>
                  <a:schemeClr val="bg1"/>
                </a:solidFill>
                <a:latin typeface="Century Schoolbook (En-têtes)"/>
              </a:rPr>
              <a:t>techniciens orthopédistes</a:t>
            </a:r>
            <a:r>
              <a:rPr lang="fr-FR" sz="2400" dirty="0">
                <a:solidFill>
                  <a:schemeClr val="bg1"/>
                </a:solidFill>
                <a:latin typeface="Century Schoolbook (En-têtes)"/>
              </a:rPr>
              <a:t/>
            </a:r>
            <a:br>
              <a:rPr lang="fr-FR" sz="2400" dirty="0">
                <a:solidFill>
                  <a:schemeClr val="bg1"/>
                </a:solidFill>
                <a:latin typeface="Century Schoolbook (En-têtes)"/>
              </a:rPr>
            </a:br>
            <a:r>
              <a:rPr lang="fr-FR" sz="2400" dirty="0" smtClean="0">
                <a:solidFill>
                  <a:schemeClr val="bg1"/>
                </a:solidFill>
                <a:latin typeface="Century Schoolbook (En-têtes)"/>
              </a:rPr>
              <a:t>- Un </a:t>
            </a:r>
            <a:r>
              <a:rPr lang="fr-FR" sz="2400" dirty="0">
                <a:solidFill>
                  <a:schemeClr val="bg1"/>
                </a:solidFill>
                <a:latin typeface="Century Schoolbook (En-têtes)"/>
              </a:rPr>
              <a:t>enseignant Directeur de l’école élémentaire</a:t>
            </a:r>
            <a:r>
              <a:rPr lang="fr-FR" sz="2400" dirty="0">
                <a:solidFill>
                  <a:schemeClr val="bg1"/>
                </a:solidFill>
                <a:latin typeface="Century Schoolbook (En-têtes)"/>
              </a:rPr>
              <a:t/>
            </a:r>
            <a:br>
              <a:rPr lang="fr-FR" sz="2400" dirty="0">
                <a:solidFill>
                  <a:schemeClr val="bg1"/>
                </a:solidFill>
                <a:latin typeface="Century Schoolbook (En-têtes)"/>
              </a:rPr>
            </a:br>
            <a:r>
              <a:rPr lang="fr-FR" sz="2400" dirty="0" smtClean="0">
                <a:solidFill>
                  <a:schemeClr val="bg1"/>
                </a:solidFill>
                <a:latin typeface="Century Schoolbook (En-têtes)"/>
              </a:rPr>
              <a:t>- Quatre </a:t>
            </a:r>
            <a:r>
              <a:rPr lang="fr-FR" sz="2400" dirty="0">
                <a:solidFill>
                  <a:schemeClr val="bg1"/>
                </a:solidFill>
                <a:latin typeface="Century Schoolbook (En-têtes)"/>
              </a:rPr>
              <a:t>enseignants du Primaire</a:t>
            </a:r>
            <a:r>
              <a:rPr lang="fr-FR" sz="2400" dirty="0">
                <a:solidFill>
                  <a:schemeClr val="bg1"/>
                </a:solidFill>
                <a:latin typeface="Century Schoolbook (En-têtes)"/>
              </a:rPr>
              <a:t/>
            </a:r>
            <a:br>
              <a:rPr lang="fr-FR" sz="2400" dirty="0">
                <a:solidFill>
                  <a:schemeClr val="bg1"/>
                </a:solidFill>
                <a:latin typeface="Century Schoolbook (En-têtes)"/>
              </a:rPr>
            </a:br>
            <a:r>
              <a:rPr lang="fr-FR" sz="2400" dirty="0" smtClean="0">
                <a:solidFill>
                  <a:schemeClr val="bg1"/>
                </a:solidFill>
                <a:latin typeface="Century Schoolbook (En-têtes)"/>
              </a:rPr>
              <a:t>- Quatre </a:t>
            </a:r>
            <a:r>
              <a:rPr lang="fr-FR" sz="2400" dirty="0">
                <a:solidFill>
                  <a:schemeClr val="bg1"/>
                </a:solidFill>
                <a:latin typeface="Century Schoolbook (En-têtes)"/>
              </a:rPr>
              <a:t>éducateurs Préscolaires</a:t>
            </a:r>
            <a:br>
              <a:rPr lang="fr-FR" sz="2400" dirty="0">
                <a:solidFill>
                  <a:schemeClr val="bg1"/>
                </a:solidFill>
                <a:latin typeface="Century Schoolbook (En-têtes)"/>
              </a:rPr>
            </a:br>
            <a:endParaRPr lang="fr-FR" sz="2400" dirty="0">
              <a:solidFill>
                <a:schemeClr val="bg1"/>
              </a:solidFill>
              <a:latin typeface="Century Schoolbook (En-têtes)"/>
              <a:cs typeface="Times New Roman" panose="02020603050405020304" pitchFamily="18" charset="0"/>
            </a:endParaRPr>
          </a:p>
        </p:txBody>
      </p:sp>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5" name="Titre 1"/>
          <p:cNvSpPr txBox="1">
            <a:spLocks/>
          </p:cNvSpPr>
          <p:nvPr/>
        </p:nvSpPr>
        <p:spPr>
          <a:xfrm>
            <a:off x="2307102" y="224379"/>
            <a:ext cx="8876713" cy="1125416"/>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fr-FR" sz="3600" b="1" u="sng" dirty="0">
                <a:solidFill>
                  <a:schemeClr val="bg1"/>
                </a:solidFill>
              </a:rPr>
              <a:t>Informations sur le centre choisi :</a:t>
            </a:r>
          </a:p>
          <a:p>
            <a:r>
              <a:rPr lang="fr-FR" sz="1600" b="1" u="sng" dirty="0"/>
              <a:t/>
            </a:r>
            <a:br>
              <a:rPr lang="fr-FR" sz="1600" b="1" u="sng" dirty="0"/>
            </a:br>
            <a:r>
              <a:rPr lang="fr-FR" sz="1600" dirty="0"/>
              <a:t/>
            </a:r>
            <a:br>
              <a:rPr lang="fr-FR" sz="1600" dirty="0"/>
            </a:br>
            <a:r>
              <a:rPr lang="fr-FR" sz="1100" dirty="0"/>
              <a:t/>
            </a:r>
            <a:br>
              <a:rPr lang="fr-FR" sz="1100" dirty="0"/>
            </a:br>
            <a:endParaRPr lang="fr-FR" sz="600" dirty="0"/>
          </a:p>
        </p:txBody>
      </p:sp>
    </p:spTree>
    <p:extLst>
      <p:ext uri="{BB962C8B-B14F-4D97-AF65-F5344CB8AC3E}">
        <p14:creationId xmlns:p14="http://schemas.microsoft.com/office/powerpoint/2010/main" val="518677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6" name="Title 1"/>
          <p:cNvSpPr>
            <a:spLocks noGrp="1"/>
          </p:cNvSpPr>
          <p:nvPr>
            <p:ph type="ctrTitle"/>
          </p:nvPr>
        </p:nvSpPr>
        <p:spPr>
          <a:xfrm>
            <a:off x="716202" y="1040306"/>
            <a:ext cx="10697818" cy="1672883"/>
          </a:xfrm>
        </p:spPr>
        <p:txBody>
          <a:bodyPr>
            <a:normAutofit/>
          </a:bodyPr>
          <a:lstStyle/>
          <a:p>
            <a:r>
              <a:rPr lang="fr-FR" sz="6600" dirty="0" smtClean="0">
                <a:solidFill>
                  <a:schemeClr val="bg1"/>
                </a:solidFill>
                <a:latin typeface="Times New Roman" panose="02020603050405020304" pitchFamily="18" charset="0"/>
                <a:cs typeface="Times New Roman" panose="02020603050405020304" pitchFamily="18" charset="0"/>
              </a:rPr>
              <a:t>Photo du Centre </a:t>
            </a:r>
            <a:r>
              <a:rPr lang="fr-FR" sz="6600" dirty="0">
                <a:solidFill>
                  <a:schemeClr val="bg1"/>
                </a:solidFill>
                <a:latin typeface="Times New Roman" panose="02020603050405020304" pitchFamily="18" charset="0"/>
                <a:cs typeface="Times New Roman" panose="02020603050405020304" pitchFamily="18" charset="0"/>
              </a:rPr>
              <a:t> </a:t>
            </a:r>
            <a:r>
              <a:rPr lang="fr-FR" sz="6600" dirty="0" err="1" smtClean="0">
                <a:solidFill>
                  <a:schemeClr val="bg1"/>
                </a:solidFill>
                <a:latin typeface="Times New Roman" panose="02020603050405020304" pitchFamily="18" charset="0"/>
                <a:cs typeface="Times New Roman" panose="02020603050405020304" pitchFamily="18" charset="0"/>
              </a:rPr>
              <a:t>Talibu</a:t>
            </a:r>
            <a:r>
              <a:rPr lang="fr-FR" sz="6600" dirty="0" smtClean="0">
                <a:solidFill>
                  <a:schemeClr val="bg1"/>
                </a:solidFill>
                <a:latin typeface="Times New Roman" panose="02020603050405020304" pitchFamily="18" charset="0"/>
                <a:cs typeface="Times New Roman" panose="02020603050405020304" pitchFamily="18" charset="0"/>
              </a:rPr>
              <a:t> </a:t>
            </a:r>
            <a:r>
              <a:rPr lang="fr-FR" sz="6600" dirty="0" err="1" smtClean="0">
                <a:solidFill>
                  <a:schemeClr val="bg1"/>
                </a:solidFill>
                <a:latin typeface="Times New Roman" panose="02020603050405020304" pitchFamily="18" charset="0"/>
                <a:cs typeface="Times New Roman" panose="02020603050405020304" pitchFamily="18" charset="0"/>
              </a:rPr>
              <a:t>Dobo</a:t>
            </a:r>
            <a:endParaRPr sz="6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486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369" y="1366324"/>
            <a:ext cx="5326497" cy="5326497"/>
          </a:xfrm>
          <a:prstGeom prst="rect">
            <a:avLst/>
          </a:prstGeom>
        </p:spPr>
      </p:pic>
      <p:pic>
        <p:nvPicPr>
          <p:cNvPr id="6" name="Imag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2017" y="307926"/>
            <a:ext cx="5989983" cy="3993322"/>
          </a:xfrm>
          <a:prstGeom prst="rect">
            <a:avLst/>
          </a:prstGeom>
        </p:spPr>
      </p:pic>
    </p:spTree>
    <p:extLst>
      <p:ext uri="{BB962C8B-B14F-4D97-AF65-F5344CB8AC3E}">
        <p14:creationId xmlns:p14="http://schemas.microsoft.com/office/powerpoint/2010/main" val="3019448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6" name="Title 1"/>
          <p:cNvSpPr>
            <a:spLocks noGrp="1"/>
          </p:cNvSpPr>
          <p:nvPr>
            <p:ph type="ctrTitle"/>
          </p:nvPr>
        </p:nvSpPr>
        <p:spPr>
          <a:xfrm>
            <a:off x="716202" y="1040306"/>
            <a:ext cx="10697818" cy="1672883"/>
          </a:xfrm>
        </p:spPr>
        <p:txBody>
          <a:bodyPr>
            <a:normAutofit/>
          </a:bodyPr>
          <a:lstStyle/>
          <a:p>
            <a:r>
              <a:rPr sz="6600" dirty="0">
                <a:solidFill>
                  <a:schemeClr val="bg1"/>
                </a:solidFill>
                <a:latin typeface="Times New Roman" panose="02020603050405020304" pitchFamily="18" charset="0"/>
                <a:cs typeface="Times New Roman" panose="02020603050405020304" pitchFamily="18" charset="0"/>
              </a:rPr>
              <a:t>Budget Don </a:t>
            </a:r>
            <a:r>
              <a:rPr lang="fr-FR" sz="6600" dirty="0" smtClean="0">
                <a:solidFill>
                  <a:schemeClr val="bg1"/>
                </a:solidFill>
                <a:latin typeface="Times New Roman" panose="02020603050405020304" pitchFamily="18" charset="0"/>
                <a:cs typeface="Times New Roman" panose="02020603050405020304" pitchFamily="18" charset="0"/>
              </a:rPr>
              <a:t>–</a:t>
            </a:r>
            <a:r>
              <a:rPr sz="6600" dirty="0" smtClean="0">
                <a:solidFill>
                  <a:schemeClr val="bg1"/>
                </a:solidFill>
                <a:latin typeface="Times New Roman" panose="02020603050405020304" pitchFamily="18" charset="0"/>
                <a:cs typeface="Times New Roman" panose="02020603050405020304" pitchFamily="18" charset="0"/>
              </a:rPr>
              <a:t> </a:t>
            </a:r>
            <a:r>
              <a:rPr lang="fr-FR" sz="6600" dirty="0" smtClean="0">
                <a:solidFill>
                  <a:schemeClr val="bg1"/>
                </a:solidFill>
                <a:latin typeface="Times New Roman" panose="02020603050405020304" pitchFamily="18" charset="0"/>
                <a:cs typeface="Times New Roman" panose="02020603050405020304" pitchFamily="18" charset="0"/>
              </a:rPr>
              <a:t>Pack Cadeau</a:t>
            </a:r>
            <a:endParaRPr sz="6600" dirty="0">
              <a:solidFill>
                <a:schemeClr val="bg1"/>
              </a:solidFill>
              <a:latin typeface="Times New Roman" panose="02020603050405020304" pitchFamily="18" charset="0"/>
              <a:cs typeface="Times New Roman" panose="02020603050405020304" pitchFamily="18" charset="0"/>
            </a:endParaRPr>
          </a:p>
        </p:txBody>
      </p:sp>
      <p:sp>
        <p:nvSpPr>
          <p:cNvPr id="7" name="Subtitle 2"/>
          <p:cNvSpPr>
            <a:spLocks noGrp="1"/>
          </p:cNvSpPr>
          <p:nvPr>
            <p:ph type="subTitle" idx="1"/>
          </p:nvPr>
        </p:nvSpPr>
        <p:spPr>
          <a:xfrm>
            <a:off x="2604052" y="2941983"/>
            <a:ext cx="4684644" cy="622852"/>
          </a:xfrm>
        </p:spPr>
        <p:txBody>
          <a:bodyPr/>
          <a:lstStyle/>
          <a:p>
            <a:r>
              <a:rPr dirty="0">
                <a:solidFill>
                  <a:srgbClr val="7030A0"/>
                </a:solidFill>
              </a:rPr>
              <a:t>Distribution pour </a:t>
            </a:r>
            <a:r>
              <a:rPr lang="fr-FR" dirty="0" smtClean="0">
                <a:solidFill>
                  <a:srgbClr val="7030A0"/>
                </a:solidFill>
              </a:rPr>
              <a:t>160</a:t>
            </a:r>
            <a:r>
              <a:rPr dirty="0" smtClean="0">
                <a:solidFill>
                  <a:srgbClr val="7030A0"/>
                </a:solidFill>
              </a:rPr>
              <a:t> </a:t>
            </a:r>
            <a:r>
              <a:rPr dirty="0" err="1">
                <a:solidFill>
                  <a:srgbClr val="7030A0"/>
                </a:solidFill>
              </a:rPr>
              <a:t>personnes</a:t>
            </a:r>
            <a:endParaRPr dirty="0">
              <a:solidFill>
                <a:srgbClr val="7030A0"/>
              </a:solidFill>
            </a:endParaRPr>
          </a:p>
        </p:txBody>
      </p:sp>
    </p:spTree>
    <p:extLst>
      <p:ext uri="{BB962C8B-B14F-4D97-AF65-F5344CB8AC3E}">
        <p14:creationId xmlns:p14="http://schemas.microsoft.com/office/powerpoint/2010/main" val="33206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2" name="ZoneTexte 1"/>
          <p:cNvSpPr txBox="1"/>
          <p:nvPr/>
        </p:nvSpPr>
        <p:spPr>
          <a:xfrm>
            <a:off x="1261872" y="0"/>
            <a:ext cx="3920605" cy="4801314"/>
          </a:xfrm>
          <a:prstGeom prst="rect">
            <a:avLst/>
          </a:prstGeom>
          <a:noFill/>
        </p:spPr>
        <p:txBody>
          <a:bodyPr wrap="square" rtlCol="0">
            <a:spAutoFit/>
          </a:bodyPr>
          <a:lstStyle/>
          <a:p>
            <a:r>
              <a:rPr lang="fr-FR" b="1" dirty="0">
                <a:solidFill>
                  <a:schemeClr val="bg1"/>
                </a:solidFill>
              </a:rPr>
              <a:t>Pack Économique (\~ </a:t>
            </a:r>
            <a:r>
              <a:rPr lang="fr-FR" b="1" dirty="0" smtClean="0">
                <a:solidFill>
                  <a:schemeClr val="bg1"/>
                </a:solidFill>
              </a:rPr>
              <a:t>8 </a:t>
            </a:r>
            <a:r>
              <a:rPr lang="fr-FR" b="1" dirty="0">
                <a:solidFill>
                  <a:schemeClr val="bg1"/>
                </a:solidFill>
              </a:rPr>
              <a:t>500 </a:t>
            </a:r>
            <a:r>
              <a:rPr lang="fr-FR" b="1" dirty="0" smtClean="0">
                <a:solidFill>
                  <a:schemeClr val="bg1"/>
                </a:solidFill>
              </a:rPr>
              <a:t>CFA </a:t>
            </a:r>
            <a:r>
              <a:rPr lang="fr-FR" b="1" dirty="0">
                <a:solidFill>
                  <a:schemeClr val="bg1"/>
                </a:solidFill>
              </a:rPr>
              <a:t>/ </a:t>
            </a:r>
            <a:r>
              <a:rPr lang="fr-FR" b="1" dirty="0" smtClean="0">
                <a:solidFill>
                  <a:schemeClr val="bg1"/>
                </a:solidFill>
              </a:rPr>
              <a:t>enfant)</a:t>
            </a:r>
          </a:p>
          <a:p>
            <a:endParaRPr lang="fr-FR" dirty="0" smtClean="0">
              <a:solidFill>
                <a:schemeClr val="bg1"/>
              </a:solidFill>
            </a:endParaRPr>
          </a:p>
          <a:p>
            <a:pPr marL="285750" indent="-285750">
              <a:buFont typeface="Wingdings" panose="05000000000000000000" pitchFamily="2" charset="2"/>
              <a:buChar char="v"/>
            </a:pPr>
            <a:r>
              <a:rPr lang="fr-FR" b="1" dirty="0" smtClean="0">
                <a:solidFill>
                  <a:schemeClr val="bg1"/>
                </a:solidFill>
              </a:rPr>
              <a:t>Petit </a:t>
            </a:r>
            <a:r>
              <a:rPr lang="fr-FR" b="1" dirty="0">
                <a:solidFill>
                  <a:schemeClr val="bg1"/>
                </a:solidFill>
              </a:rPr>
              <a:t>ballon </a:t>
            </a:r>
            <a:r>
              <a:rPr lang="fr-FR" b="1" dirty="0" smtClean="0">
                <a:solidFill>
                  <a:schemeClr val="bg1"/>
                </a:solidFill>
              </a:rPr>
              <a:t>d’éveil </a:t>
            </a:r>
            <a:r>
              <a:rPr lang="fr-FR" dirty="0">
                <a:solidFill>
                  <a:schemeClr val="bg1"/>
                </a:solidFill>
              </a:rPr>
              <a:t>(souple, facile à saisir) – </a:t>
            </a:r>
            <a:r>
              <a:rPr lang="fr-FR" dirty="0" smtClean="0">
                <a:solidFill>
                  <a:schemeClr val="bg1"/>
                </a:solidFill>
              </a:rPr>
              <a:t>3 </a:t>
            </a:r>
            <a:r>
              <a:rPr lang="fr-FR" dirty="0">
                <a:solidFill>
                  <a:schemeClr val="bg1"/>
                </a:solidFill>
              </a:rPr>
              <a:t>500 </a:t>
            </a:r>
            <a:r>
              <a:rPr lang="fr-FR" dirty="0" smtClean="0">
                <a:solidFill>
                  <a:schemeClr val="bg1"/>
                </a:solidFill>
              </a:rPr>
              <a:t>CFA </a:t>
            </a:r>
            <a:r>
              <a:rPr lang="fr-FR" dirty="0">
                <a:solidFill>
                  <a:schemeClr val="bg1"/>
                </a:solidFill>
              </a:rPr>
              <a:t>(ex. “Petit Ballon d’Éveil Aquatique”, </a:t>
            </a:r>
            <a:r>
              <a:rPr lang="fr-FR" dirty="0" err="1">
                <a:solidFill>
                  <a:schemeClr val="bg1"/>
                </a:solidFill>
              </a:rPr>
              <a:t>Decathlon</a:t>
            </a:r>
            <a:r>
              <a:rPr lang="fr-FR" dirty="0">
                <a:solidFill>
                  <a:schemeClr val="bg1"/>
                </a:solidFill>
              </a:rPr>
              <a:t> SN). ([decathlon.sn][1</a:t>
            </a:r>
            <a:r>
              <a:rPr lang="fr-FR" dirty="0" smtClean="0">
                <a:solidFill>
                  <a:schemeClr val="bg1"/>
                </a:solidFill>
              </a:rPr>
              <a:t>])</a:t>
            </a:r>
          </a:p>
          <a:p>
            <a:pPr marL="285750" indent="-285750">
              <a:buFont typeface="Wingdings" panose="05000000000000000000" pitchFamily="2" charset="2"/>
              <a:buChar char="v"/>
            </a:pPr>
            <a:r>
              <a:rPr lang="fr-FR" b="1" dirty="0" smtClean="0">
                <a:solidFill>
                  <a:schemeClr val="bg1"/>
                </a:solidFill>
              </a:rPr>
              <a:t>Jeu Ludo </a:t>
            </a:r>
            <a:r>
              <a:rPr lang="fr-FR" dirty="0">
                <a:solidFill>
                  <a:schemeClr val="bg1"/>
                </a:solidFill>
              </a:rPr>
              <a:t>(règles simples, pièces grosses) – </a:t>
            </a:r>
            <a:r>
              <a:rPr lang="fr-FR" dirty="0" smtClean="0">
                <a:solidFill>
                  <a:schemeClr val="bg1"/>
                </a:solidFill>
              </a:rPr>
              <a:t>5 </a:t>
            </a:r>
            <a:r>
              <a:rPr lang="fr-FR" dirty="0">
                <a:solidFill>
                  <a:schemeClr val="bg1"/>
                </a:solidFill>
              </a:rPr>
              <a:t>000 </a:t>
            </a:r>
            <a:r>
              <a:rPr lang="fr-FR" dirty="0" smtClean="0">
                <a:solidFill>
                  <a:schemeClr val="bg1"/>
                </a:solidFill>
              </a:rPr>
              <a:t>CFA</a:t>
            </a:r>
            <a:r>
              <a:rPr lang="fr-FR" dirty="0">
                <a:solidFill>
                  <a:schemeClr val="bg1"/>
                </a:solidFill>
              </a:rPr>
              <a:t> </a:t>
            </a:r>
            <a:r>
              <a:rPr lang="fr-FR" dirty="0" smtClean="0">
                <a:solidFill>
                  <a:schemeClr val="bg1"/>
                </a:solidFill>
              </a:rPr>
              <a:t>(Nova</a:t>
            </a:r>
            <a:r>
              <a:rPr lang="fr-FR" dirty="0">
                <a:solidFill>
                  <a:schemeClr val="bg1"/>
                </a:solidFill>
              </a:rPr>
              <a:t>, Ludo famille). ([nova.sn][2])  </a:t>
            </a:r>
            <a:endParaRPr lang="fr-FR" dirty="0" smtClean="0">
              <a:solidFill>
                <a:schemeClr val="bg1"/>
              </a:solidFill>
            </a:endParaRPr>
          </a:p>
          <a:p>
            <a:pPr marL="285750" indent="-285750">
              <a:buFont typeface="Wingdings" panose="05000000000000000000" pitchFamily="2" charset="2"/>
              <a:buChar char="v"/>
            </a:pPr>
            <a:endParaRPr lang="fr-FR" dirty="0">
              <a:solidFill>
                <a:schemeClr val="bg1"/>
              </a:solidFill>
            </a:endParaRPr>
          </a:p>
          <a:p>
            <a:pPr marL="285750" indent="-285750">
              <a:buFont typeface="Wingdings" panose="05000000000000000000" pitchFamily="2" charset="2"/>
              <a:buChar char="v"/>
            </a:pPr>
            <a:r>
              <a:rPr lang="fr-FR" b="1" dirty="0" smtClean="0">
                <a:solidFill>
                  <a:schemeClr val="bg1"/>
                </a:solidFill>
              </a:rPr>
              <a:t>Total estimatif </a:t>
            </a:r>
            <a:r>
              <a:rPr lang="fr-FR" dirty="0">
                <a:solidFill>
                  <a:schemeClr val="bg1"/>
                </a:solidFill>
              </a:rPr>
              <a:t>: </a:t>
            </a:r>
            <a:r>
              <a:rPr lang="fr-FR" dirty="0" smtClean="0">
                <a:solidFill>
                  <a:schemeClr val="bg1"/>
                </a:solidFill>
              </a:rPr>
              <a:t>≈ </a:t>
            </a:r>
            <a:r>
              <a:rPr lang="fr-FR" dirty="0">
                <a:solidFill>
                  <a:schemeClr val="bg1"/>
                </a:solidFill>
              </a:rPr>
              <a:t>8 500 CFA / </a:t>
            </a:r>
            <a:r>
              <a:rPr lang="fr-FR" dirty="0" smtClean="0">
                <a:solidFill>
                  <a:schemeClr val="bg1"/>
                </a:solidFill>
              </a:rPr>
              <a:t>enfant  </a:t>
            </a:r>
          </a:p>
          <a:p>
            <a:pPr marL="285750" indent="-285750">
              <a:buFont typeface="Wingdings" panose="05000000000000000000" pitchFamily="2" charset="2"/>
              <a:buChar char="v"/>
            </a:pPr>
            <a:r>
              <a:rPr lang="fr-FR" b="1" dirty="0" smtClean="0">
                <a:solidFill>
                  <a:schemeClr val="bg1"/>
                </a:solidFill>
              </a:rPr>
              <a:t>Total </a:t>
            </a:r>
            <a:r>
              <a:rPr lang="fr-FR" b="1" dirty="0">
                <a:solidFill>
                  <a:schemeClr val="bg1"/>
                </a:solidFill>
              </a:rPr>
              <a:t>160 </a:t>
            </a:r>
            <a:r>
              <a:rPr lang="fr-FR" b="1" dirty="0" smtClean="0">
                <a:solidFill>
                  <a:schemeClr val="bg1"/>
                </a:solidFill>
              </a:rPr>
              <a:t>enfants </a:t>
            </a:r>
            <a:r>
              <a:rPr lang="fr-FR" dirty="0">
                <a:solidFill>
                  <a:schemeClr val="bg1"/>
                </a:solidFill>
              </a:rPr>
              <a:t>: </a:t>
            </a:r>
            <a:r>
              <a:rPr lang="fr-FR" dirty="0" smtClean="0">
                <a:solidFill>
                  <a:schemeClr val="bg1"/>
                </a:solidFill>
              </a:rPr>
              <a:t>≈ </a:t>
            </a:r>
            <a:r>
              <a:rPr lang="fr-FR" dirty="0">
                <a:solidFill>
                  <a:schemeClr val="bg1"/>
                </a:solidFill>
              </a:rPr>
              <a:t>1 360 000 </a:t>
            </a:r>
            <a:r>
              <a:rPr lang="fr-FR" dirty="0" smtClean="0">
                <a:solidFill>
                  <a:schemeClr val="bg1"/>
                </a:solidFill>
              </a:rPr>
              <a:t>CFA.</a:t>
            </a:r>
            <a:endParaRPr lang="fr-FR" dirty="0">
              <a:solidFill>
                <a:schemeClr val="bg1"/>
              </a:solidFill>
            </a:endParaRPr>
          </a:p>
        </p:txBody>
      </p:sp>
      <p:sp>
        <p:nvSpPr>
          <p:cNvPr id="6" name="ZoneTexte 5"/>
          <p:cNvSpPr txBox="1"/>
          <p:nvPr/>
        </p:nvSpPr>
        <p:spPr>
          <a:xfrm>
            <a:off x="5182477" y="0"/>
            <a:ext cx="3920605" cy="4801314"/>
          </a:xfrm>
          <a:prstGeom prst="rect">
            <a:avLst/>
          </a:prstGeom>
          <a:noFill/>
        </p:spPr>
        <p:txBody>
          <a:bodyPr wrap="square" rtlCol="0">
            <a:spAutoFit/>
          </a:bodyPr>
          <a:lstStyle/>
          <a:p>
            <a:r>
              <a:rPr lang="fr-FR" b="1" dirty="0">
                <a:solidFill>
                  <a:schemeClr val="bg1"/>
                </a:solidFill>
              </a:rPr>
              <a:t>Pack Recommandé </a:t>
            </a:r>
            <a:r>
              <a:rPr lang="fr-FR" dirty="0">
                <a:solidFill>
                  <a:schemeClr val="bg1"/>
                </a:solidFill>
              </a:rPr>
              <a:t>(\~ </a:t>
            </a:r>
            <a:r>
              <a:rPr lang="fr-FR" dirty="0" smtClean="0">
                <a:solidFill>
                  <a:schemeClr val="bg1"/>
                </a:solidFill>
              </a:rPr>
              <a:t>12 </a:t>
            </a:r>
            <a:r>
              <a:rPr lang="fr-FR" dirty="0">
                <a:solidFill>
                  <a:schemeClr val="bg1"/>
                </a:solidFill>
              </a:rPr>
              <a:t>000 </a:t>
            </a:r>
            <a:r>
              <a:rPr lang="fr-FR" dirty="0" smtClean="0">
                <a:solidFill>
                  <a:schemeClr val="bg1"/>
                </a:solidFill>
              </a:rPr>
              <a:t>CFA </a:t>
            </a:r>
            <a:r>
              <a:rPr lang="fr-FR" dirty="0">
                <a:solidFill>
                  <a:schemeClr val="bg1"/>
                </a:solidFill>
              </a:rPr>
              <a:t>/ enfant</a:t>
            </a:r>
            <a:r>
              <a:rPr lang="fr-FR" dirty="0" smtClean="0">
                <a:solidFill>
                  <a:schemeClr val="bg1"/>
                </a:solidFill>
              </a:rPr>
              <a:t>) </a:t>
            </a:r>
          </a:p>
          <a:p>
            <a:endParaRPr lang="fr-FR" dirty="0">
              <a:solidFill>
                <a:schemeClr val="bg1"/>
              </a:solidFill>
            </a:endParaRPr>
          </a:p>
          <a:p>
            <a:pPr marL="285750" indent="-285750">
              <a:buFont typeface="Arial" panose="020B0604020202020204" pitchFamily="34" charset="0"/>
              <a:buChar char="•"/>
            </a:pPr>
            <a:r>
              <a:rPr lang="fr-FR" dirty="0" smtClean="0">
                <a:solidFill>
                  <a:schemeClr val="bg1"/>
                </a:solidFill>
              </a:rPr>
              <a:t>Ballon souple </a:t>
            </a:r>
            <a:r>
              <a:rPr lang="fr-FR" dirty="0">
                <a:solidFill>
                  <a:schemeClr val="bg1"/>
                </a:solidFill>
              </a:rPr>
              <a:t>– </a:t>
            </a:r>
            <a:r>
              <a:rPr lang="fr-FR" dirty="0" smtClean="0">
                <a:solidFill>
                  <a:schemeClr val="bg1"/>
                </a:solidFill>
              </a:rPr>
              <a:t>3 </a:t>
            </a:r>
            <a:r>
              <a:rPr lang="fr-FR" dirty="0">
                <a:solidFill>
                  <a:schemeClr val="bg1"/>
                </a:solidFill>
              </a:rPr>
              <a:t>500–4 500 </a:t>
            </a:r>
            <a:r>
              <a:rPr lang="fr-FR" dirty="0" smtClean="0">
                <a:solidFill>
                  <a:schemeClr val="bg1"/>
                </a:solidFill>
              </a:rPr>
              <a:t>CFA </a:t>
            </a:r>
            <a:r>
              <a:rPr lang="fr-FR" dirty="0">
                <a:solidFill>
                  <a:schemeClr val="bg1"/>
                </a:solidFill>
              </a:rPr>
              <a:t>(</a:t>
            </a:r>
            <a:r>
              <a:rPr lang="fr-FR" dirty="0" err="1">
                <a:solidFill>
                  <a:schemeClr val="bg1"/>
                </a:solidFill>
              </a:rPr>
              <a:t>Decathlon</a:t>
            </a:r>
            <a:r>
              <a:rPr lang="fr-FR" dirty="0">
                <a:solidFill>
                  <a:schemeClr val="bg1"/>
                </a:solidFill>
              </a:rPr>
              <a:t> SN). ([decathlon.sn][1</a:t>
            </a:r>
            <a:r>
              <a:rPr lang="fr-FR" dirty="0" smtClean="0">
                <a:solidFill>
                  <a:schemeClr val="bg1"/>
                </a:solidFill>
              </a:rPr>
              <a:t>])</a:t>
            </a:r>
          </a:p>
          <a:p>
            <a:pPr marL="285750" indent="-285750">
              <a:buFont typeface="Arial" panose="020B0604020202020204" pitchFamily="34" charset="0"/>
              <a:buChar char="•"/>
            </a:pPr>
            <a:r>
              <a:rPr lang="fr-FR" dirty="0" smtClean="0">
                <a:solidFill>
                  <a:schemeClr val="bg1"/>
                </a:solidFill>
              </a:rPr>
              <a:t>Jeu Ludo </a:t>
            </a:r>
            <a:r>
              <a:rPr lang="fr-FR" dirty="0">
                <a:solidFill>
                  <a:schemeClr val="bg1"/>
                </a:solidFill>
              </a:rPr>
              <a:t>– </a:t>
            </a:r>
            <a:r>
              <a:rPr lang="fr-FR" dirty="0" smtClean="0">
                <a:solidFill>
                  <a:schemeClr val="bg1"/>
                </a:solidFill>
              </a:rPr>
              <a:t>5 </a:t>
            </a:r>
            <a:r>
              <a:rPr lang="fr-FR" dirty="0">
                <a:solidFill>
                  <a:schemeClr val="bg1"/>
                </a:solidFill>
              </a:rPr>
              <a:t>000 </a:t>
            </a:r>
            <a:r>
              <a:rPr lang="fr-FR" dirty="0" smtClean="0">
                <a:solidFill>
                  <a:schemeClr val="bg1"/>
                </a:solidFill>
              </a:rPr>
              <a:t>CFA </a:t>
            </a:r>
            <a:r>
              <a:rPr lang="fr-FR" dirty="0">
                <a:solidFill>
                  <a:schemeClr val="bg1"/>
                </a:solidFill>
              </a:rPr>
              <a:t>(Nova). ([nova.sn][2</a:t>
            </a:r>
            <a:r>
              <a:rPr lang="fr-FR" dirty="0" smtClean="0">
                <a:solidFill>
                  <a:schemeClr val="bg1"/>
                </a:solidFill>
              </a:rPr>
              <a:t>])</a:t>
            </a:r>
          </a:p>
          <a:p>
            <a:pPr marL="285750" indent="-285750">
              <a:buFont typeface="Arial" panose="020B0604020202020204" pitchFamily="34" charset="0"/>
              <a:buChar char="•"/>
            </a:pPr>
            <a:r>
              <a:rPr lang="fr-FR" dirty="0" smtClean="0">
                <a:solidFill>
                  <a:schemeClr val="bg1"/>
                </a:solidFill>
              </a:rPr>
              <a:t>Petit </a:t>
            </a:r>
            <a:r>
              <a:rPr lang="fr-FR" dirty="0">
                <a:solidFill>
                  <a:schemeClr val="bg1"/>
                </a:solidFill>
              </a:rPr>
              <a:t>jeu de construction / </a:t>
            </a:r>
            <a:r>
              <a:rPr lang="fr-FR" dirty="0" smtClean="0">
                <a:solidFill>
                  <a:schemeClr val="bg1"/>
                </a:solidFill>
              </a:rPr>
              <a:t>activité </a:t>
            </a:r>
            <a:r>
              <a:rPr lang="fr-FR" dirty="0">
                <a:solidFill>
                  <a:schemeClr val="bg1"/>
                </a:solidFill>
              </a:rPr>
              <a:t>– </a:t>
            </a:r>
            <a:r>
              <a:rPr lang="fr-FR" dirty="0" smtClean="0">
                <a:solidFill>
                  <a:schemeClr val="bg1"/>
                </a:solidFill>
              </a:rPr>
              <a:t>≈ </a:t>
            </a:r>
            <a:r>
              <a:rPr lang="fr-FR" dirty="0">
                <a:solidFill>
                  <a:schemeClr val="bg1"/>
                </a:solidFill>
              </a:rPr>
              <a:t>3 000–4 000 </a:t>
            </a:r>
            <a:r>
              <a:rPr lang="fr-FR" dirty="0" smtClean="0">
                <a:solidFill>
                  <a:schemeClr val="bg1"/>
                </a:solidFill>
              </a:rPr>
              <a:t>CFA </a:t>
            </a:r>
            <a:r>
              <a:rPr lang="fr-FR" dirty="0">
                <a:solidFill>
                  <a:schemeClr val="bg1"/>
                </a:solidFill>
              </a:rPr>
              <a:t>(ex. kit constructeur 108 </a:t>
            </a:r>
            <a:r>
              <a:rPr lang="fr-FR" dirty="0" err="1">
                <a:solidFill>
                  <a:schemeClr val="bg1"/>
                </a:solidFill>
              </a:rPr>
              <a:t>pcs</a:t>
            </a:r>
            <a:r>
              <a:rPr lang="fr-FR" dirty="0">
                <a:solidFill>
                  <a:schemeClr val="bg1"/>
                </a:solidFill>
              </a:rPr>
              <a:t> vu à </a:t>
            </a:r>
            <a:r>
              <a:rPr lang="fr-FR" dirty="0" smtClean="0">
                <a:solidFill>
                  <a:schemeClr val="bg1"/>
                </a:solidFill>
              </a:rPr>
              <a:t>3 </a:t>
            </a:r>
            <a:r>
              <a:rPr lang="fr-FR" dirty="0">
                <a:solidFill>
                  <a:schemeClr val="bg1"/>
                </a:solidFill>
              </a:rPr>
              <a:t>080 </a:t>
            </a:r>
            <a:r>
              <a:rPr lang="fr-FR" dirty="0" smtClean="0">
                <a:solidFill>
                  <a:schemeClr val="bg1"/>
                </a:solidFill>
              </a:rPr>
              <a:t>CFA sur </a:t>
            </a:r>
            <a:r>
              <a:rPr lang="fr-FR" dirty="0" err="1">
                <a:solidFill>
                  <a:schemeClr val="bg1"/>
                </a:solidFill>
              </a:rPr>
              <a:t>Jumia</a:t>
            </a:r>
            <a:r>
              <a:rPr lang="fr-FR" dirty="0">
                <a:solidFill>
                  <a:schemeClr val="bg1"/>
                </a:solidFill>
              </a:rPr>
              <a:t>). ([</a:t>
            </a:r>
            <a:r>
              <a:rPr lang="fr-FR" dirty="0" err="1">
                <a:solidFill>
                  <a:schemeClr val="bg1"/>
                </a:solidFill>
              </a:rPr>
              <a:t>Jumia</a:t>
            </a:r>
            <a:r>
              <a:rPr lang="fr-FR" dirty="0">
                <a:solidFill>
                  <a:schemeClr val="bg1"/>
                </a:solidFill>
              </a:rPr>
              <a:t> Sénégal][3])  </a:t>
            </a:r>
          </a:p>
          <a:p>
            <a:pPr marL="285750" indent="-285750">
              <a:buFont typeface="Arial" panose="020B0604020202020204" pitchFamily="34" charset="0"/>
              <a:buChar char="•"/>
            </a:pPr>
            <a:r>
              <a:rPr lang="fr-FR" b="1" dirty="0" smtClean="0">
                <a:solidFill>
                  <a:schemeClr val="bg1"/>
                </a:solidFill>
              </a:rPr>
              <a:t>Total estimatif</a:t>
            </a:r>
            <a:r>
              <a:rPr lang="fr-FR" dirty="0" smtClean="0">
                <a:solidFill>
                  <a:schemeClr val="bg1"/>
                </a:solidFill>
              </a:rPr>
              <a:t>: ≈ </a:t>
            </a:r>
            <a:r>
              <a:rPr lang="fr-FR" dirty="0">
                <a:solidFill>
                  <a:schemeClr val="bg1"/>
                </a:solidFill>
              </a:rPr>
              <a:t>12 000 CFA / </a:t>
            </a:r>
            <a:r>
              <a:rPr lang="fr-FR" dirty="0" smtClean="0">
                <a:solidFill>
                  <a:schemeClr val="bg1"/>
                </a:solidFill>
              </a:rPr>
              <a:t>enfant</a:t>
            </a:r>
          </a:p>
          <a:p>
            <a:pPr marL="285750" indent="-285750">
              <a:buFont typeface="Arial" panose="020B0604020202020204" pitchFamily="34" charset="0"/>
              <a:buChar char="•"/>
            </a:pPr>
            <a:r>
              <a:rPr lang="fr-FR" b="1" dirty="0" smtClean="0">
                <a:solidFill>
                  <a:schemeClr val="bg1"/>
                </a:solidFill>
              </a:rPr>
              <a:t>Total </a:t>
            </a:r>
            <a:r>
              <a:rPr lang="fr-FR" b="1" dirty="0">
                <a:solidFill>
                  <a:schemeClr val="bg1"/>
                </a:solidFill>
              </a:rPr>
              <a:t>160 </a:t>
            </a:r>
            <a:r>
              <a:rPr lang="fr-FR" b="1" dirty="0" smtClean="0">
                <a:solidFill>
                  <a:schemeClr val="bg1"/>
                </a:solidFill>
              </a:rPr>
              <a:t>enfants </a:t>
            </a:r>
            <a:r>
              <a:rPr lang="fr-FR" dirty="0">
                <a:solidFill>
                  <a:schemeClr val="bg1"/>
                </a:solidFill>
              </a:rPr>
              <a:t>: </a:t>
            </a:r>
            <a:r>
              <a:rPr lang="fr-FR" dirty="0" smtClean="0">
                <a:solidFill>
                  <a:schemeClr val="bg1"/>
                </a:solidFill>
              </a:rPr>
              <a:t>≈ </a:t>
            </a:r>
            <a:r>
              <a:rPr lang="fr-FR" dirty="0">
                <a:solidFill>
                  <a:schemeClr val="bg1"/>
                </a:solidFill>
              </a:rPr>
              <a:t>1 920 000 </a:t>
            </a:r>
            <a:r>
              <a:rPr lang="fr-FR" dirty="0" smtClean="0">
                <a:solidFill>
                  <a:schemeClr val="bg1"/>
                </a:solidFill>
              </a:rPr>
              <a:t>CFA.</a:t>
            </a:r>
            <a:endParaRPr lang="fr-FR" dirty="0">
              <a:solidFill>
                <a:schemeClr val="bg1"/>
              </a:solidFill>
            </a:endParaRPr>
          </a:p>
        </p:txBody>
      </p:sp>
      <p:sp>
        <p:nvSpPr>
          <p:cNvPr id="3" name="Rectangle 2"/>
          <p:cNvSpPr/>
          <p:nvPr/>
        </p:nvSpPr>
        <p:spPr>
          <a:xfrm>
            <a:off x="492368" y="4826675"/>
            <a:ext cx="10639457" cy="2031325"/>
          </a:xfrm>
          <a:prstGeom prst="rect">
            <a:avLst/>
          </a:prstGeom>
        </p:spPr>
        <p:txBody>
          <a:bodyPr wrap="square">
            <a:spAutoFit/>
          </a:bodyPr>
          <a:lstStyle/>
          <a:p>
            <a:r>
              <a:rPr lang="fr-FR" b="1" dirty="0">
                <a:solidFill>
                  <a:schemeClr val="bg1"/>
                </a:solidFill>
              </a:rPr>
              <a:t>Pack Plus (grand enfant / ado) (\~ </a:t>
            </a:r>
            <a:r>
              <a:rPr lang="fr-FR" b="1" dirty="0" smtClean="0">
                <a:solidFill>
                  <a:schemeClr val="bg1"/>
                </a:solidFill>
              </a:rPr>
              <a:t>20 </a:t>
            </a:r>
            <a:r>
              <a:rPr lang="fr-FR" b="1" dirty="0">
                <a:solidFill>
                  <a:schemeClr val="bg1"/>
                </a:solidFill>
              </a:rPr>
              <a:t>000 </a:t>
            </a:r>
            <a:r>
              <a:rPr lang="fr-FR" b="1" dirty="0" smtClean="0">
                <a:solidFill>
                  <a:schemeClr val="bg1"/>
                </a:solidFill>
              </a:rPr>
              <a:t>CFA</a:t>
            </a:r>
            <a:r>
              <a:rPr lang="fr-FR" b="1" dirty="0">
                <a:solidFill>
                  <a:schemeClr val="bg1"/>
                </a:solidFill>
              </a:rPr>
              <a:t> </a:t>
            </a:r>
            <a:r>
              <a:rPr lang="fr-FR" b="1" dirty="0" smtClean="0">
                <a:solidFill>
                  <a:schemeClr val="bg1"/>
                </a:solidFill>
              </a:rPr>
              <a:t>/ enfant)</a:t>
            </a:r>
          </a:p>
          <a:p>
            <a:pPr marL="285750" indent="-285750">
              <a:buFont typeface="Wingdings" panose="05000000000000000000" pitchFamily="2" charset="2"/>
              <a:buChar char="q"/>
            </a:pPr>
            <a:r>
              <a:rPr lang="fr-FR" dirty="0" smtClean="0">
                <a:solidFill>
                  <a:schemeClr val="bg1"/>
                </a:solidFill>
              </a:rPr>
              <a:t>Ballon 4 </a:t>
            </a:r>
            <a:r>
              <a:rPr lang="fr-FR" dirty="0">
                <a:solidFill>
                  <a:schemeClr val="bg1"/>
                </a:solidFill>
              </a:rPr>
              <a:t>500–8 500 </a:t>
            </a:r>
            <a:r>
              <a:rPr lang="fr-FR" dirty="0" smtClean="0">
                <a:solidFill>
                  <a:schemeClr val="bg1"/>
                </a:solidFill>
              </a:rPr>
              <a:t>CFA </a:t>
            </a:r>
            <a:r>
              <a:rPr lang="fr-FR" dirty="0">
                <a:solidFill>
                  <a:schemeClr val="bg1"/>
                </a:solidFill>
              </a:rPr>
              <a:t>selon taille/discipline (</a:t>
            </a:r>
            <a:r>
              <a:rPr lang="fr-FR" dirty="0" err="1">
                <a:solidFill>
                  <a:schemeClr val="bg1"/>
                </a:solidFill>
              </a:rPr>
              <a:t>Decathlon</a:t>
            </a:r>
            <a:r>
              <a:rPr lang="fr-FR" dirty="0">
                <a:solidFill>
                  <a:schemeClr val="bg1"/>
                </a:solidFill>
              </a:rPr>
              <a:t>/</a:t>
            </a:r>
            <a:r>
              <a:rPr lang="fr-FR" dirty="0" err="1">
                <a:solidFill>
                  <a:schemeClr val="bg1"/>
                </a:solidFill>
              </a:rPr>
              <a:t>Jumia</a:t>
            </a:r>
            <a:r>
              <a:rPr lang="fr-FR" dirty="0">
                <a:solidFill>
                  <a:schemeClr val="bg1"/>
                </a:solidFill>
              </a:rPr>
              <a:t>). ([decathlon.sn][1], [</a:t>
            </a:r>
            <a:r>
              <a:rPr lang="fr-FR" dirty="0" err="1">
                <a:solidFill>
                  <a:schemeClr val="bg1"/>
                </a:solidFill>
              </a:rPr>
              <a:t>Jumia</a:t>
            </a:r>
            <a:r>
              <a:rPr lang="fr-FR" dirty="0">
                <a:solidFill>
                  <a:schemeClr val="bg1"/>
                </a:solidFill>
              </a:rPr>
              <a:t> Sénégal][4</a:t>
            </a:r>
            <a:r>
              <a:rPr lang="fr-FR" dirty="0" smtClean="0">
                <a:solidFill>
                  <a:schemeClr val="bg1"/>
                </a:solidFill>
              </a:rPr>
              <a:t>])</a:t>
            </a:r>
          </a:p>
          <a:p>
            <a:pPr marL="285750" indent="-285750">
              <a:buFont typeface="Wingdings" panose="05000000000000000000" pitchFamily="2" charset="2"/>
              <a:buChar char="q"/>
            </a:pPr>
            <a:r>
              <a:rPr lang="fr-FR" dirty="0" smtClean="0">
                <a:solidFill>
                  <a:schemeClr val="bg1"/>
                </a:solidFill>
              </a:rPr>
              <a:t>Jeu </a:t>
            </a:r>
            <a:r>
              <a:rPr lang="fr-FR" dirty="0">
                <a:solidFill>
                  <a:schemeClr val="bg1"/>
                </a:solidFill>
              </a:rPr>
              <a:t>de société </a:t>
            </a:r>
            <a:r>
              <a:rPr lang="fr-FR" dirty="0" smtClean="0">
                <a:solidFill>
                  <a:schemeClr val="bg1"/>
                </a:solidFill>
              </a:rPr>
              <a:t>éducatif </a:t>
            </a:r>
            <a:r>
              <a:rPr lang="fr-FR" dirty="0">
                <a:solidFill>
                  <a:schemeClr val="bg1"/>
                </a:solidFill>
              </a:rPr>
              <a:t>(Scrabble Junior par ex.) – </a:t>
            </a:r>
            <a:r>
              <a:rPr lang="fr-FR" dirty="0" smtClean="0">
                <a:solidFill>
                  <a:schemeClr val="bg1"/>
                </a:solidFill>
              </a:rPr>
              <a:t>≈ </a:t>
            </a:r>
            <a:r>
              <a:rPr lang="fr-FR" dirty="0">
                <a:solidFill>
                  <a:schemeClr val="bg1"/>
                </a:solidFill>
              </a:rPr>
              <a:t>15 000 </a:t>
            </a:r>
            <a:r>
              <a:rPr lang="fr-FR" dirty="0" smtClean="0">
                <a:solidFill>
                  <a:schemeClr val="bg1"/>
                </a:solidFill>
              </a:rPr>
              <a:t>CFA (Nova </a:t>
            </a:r>
            <a:r>
              <a:rPr lang="fr-FR" dirty="0">
                <a:solidFill>
                  <a:schemeClr val="bg1"/>
                </a:solidFill>
              </a:rPr>
              <a:t>– liste “Jeux de société”). ([nova.sn][5])  </a:t>
            </a:r>
            <a:endParaRPr lang="fr-FR" dirty="0" smtClean="0">
              <a:solidFill>
                <a:schemeClr val="bg1"/>
              </a:solidFill>
            </a:endParaRPr>
          </a:p>
          <a:p>
            <a:pPr marL="285750" indent="-285750">
              <a:buFont typeface="Wingdings" panose="05000000000000000000" pitchFamily="2" charset="2"/>
              <a:buChar char="q"/>
            </a:pPr>
            <a:r>
              <a:rPr lang="fr-FR" b="1" dirty="0" smtClean="0">
                <a:solidFill>
                  <a:schemeClr val="bg1"/>
                </a:solidFill>
              </a:rPr>
              <a:t>Total estimatif </a:t>
            </a:r>
            <a:r>
              <a:rPr lang="fr-FR" dirty="0">
                <a:solidFill>
                  <a:schemeClr val="bg1"/>
                </a:solidFill>
              </a:rPr>
              <a:t>: </a:t>
            </a:r>
            <a:r>
              <a:rPr lang="fr-FR" dirty="0" smtClean="0">
                <a:solidFill>
                  <a:schemeClr val="bg1"/>
                </a:solidFill>
              </a:rPr>
              <a:t>≈ </a:t>
            </a:r>
            <a:r>
              <a:rPr lang="fr-FR" dirty="0">
                <a:solidFill>
                  <a:schemeClr val="bg1"/>
                </a:solidFill>
              </a:rPr>
              <a:t>19 500–23 500 CFA / </a:t>
            </a:r>
            <a:r>
              <a:rPr lang="fr-FR" dirty="0" smtClean="0">
                <a:solidFill>
                  <a:schemeClr val="bg1"/>
                </a:solidFill>
              </a:rPr>
              <a:t>enfant</a:t>
            </a:r>
          </a:p>
          <a:p>
            <a:pPr marL="285750" indent="-285750">
              <a:buFont typeface="Wingdings" panose="05000000000000000000" pitchFamily="2" charset="2"/>
              <a:buChar char="q"/>
            </a:pPr>
            <a:r>
              <a:rPr lang="fr-FR" b="1" dirty="0" smtClean="0">
                <a:solidFill>
                  <a:schemeClr val="bg1"/>
                </a:solidFill>
              </a:rPr>
              <a:t>Total </a:t>
            </a:r>
            <a:r>
              <a:rPr lang="fr-FR" b="1" dirty="0">
                <a:solidFill>
                  <a:schemeClr val="bg1"/>
                </a:solidFill>
              </a:rPr>
              <a:t>160 </a:t>
            </a:r>
            <a:r>
              <a:rPr lang="fr-FR" b="1" dirty="0" smtClean="0">
                <a:solidFill>
                  <a:schemeClr val="bg1"/>
                </a:solidFill>
              </a:rPr>
              <a:t>enfants </a:t>
            </a:r>
            <a:r>
              <a:rPr lang="fr-FR" dirty="0">
                <a:solidFill>
                  <a:schemeClr val="bg1"/>
                </a:solidFill>
              </a:rPr>
              <a:t>: </a:t>
            </a:r>
            <a:r>
              <a:rPr lang="fr-FR" dirty="0" smtClean="0">
                <a:solidFill>
                  <a:schemeClr val="bg1"/>
                </a:solidFill>
              </a:rPr>
              <a:t>≈ </a:t>
            </a:r>
            <a:r>
              <a:rPr lang="fr-FR" dirty="0">
                <a:solidFill>
                  <a:schemeClr val="bg1"/>
                </a:solidFill>
              </a:rPr>
              <a:t>3,12–3,76 M </a:t>
            </a:r>
            <a:r>
              <a:rPr lang="fr-FR" dirty="0" smtClean="0">
                <a:solidFill>
                  <a:schemeClr val="bg1"/>
                </a:solidFill>
              </a:rPr>
              <a:t>CFA.</a:t>
            </a:r>
            <a:endParaRPr lang="fr-FR" dirty="0">
              <a:solidFill>
                <a:schemeClr val="bg1"/>
              </a:solidFill>
            </a:endParaRPr>
          </a:p>
        </p:txBody>
      </p:sp>
    </p:spTree>
    <p:extLst>
      <p:ext uri="{BB962C8B-B14F-4D97-AF65-F5344CB8AC3E}">
        <p14:creationId xmlns:p14="http://schemas.microsoft.com/office/powerpoint/2010/main" val="2116094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69" y="-98474"/>
            <a:ext cx="769503" cy="1138780"/>
          </a:xfrm>
          <a:prstGeom prst="rect">
            <a:avLst/>
          </a:prstGeom>
          <a:noFill/>
          <a:ln>
            <a:noFill/>
          </a:ln>
        </p:spPr>
      </p:pic>
      <p:sp>
        <p:nvSpPr>
          <p:cNvPr id="6" name="Title 1"/>
          <p:cNvSpPr>
            <a:spLocks noGrp="1"/>
          </p:cNvSpPr>
          <p:nvPr>
            <p:ph type="ctrTitle"/>
          </p:nvPr>
        </p:nvSpPr>
        <p:spPr>
          <a:xfrm>
            <a:off x="716202" y="1040306"/>
            <a:ext cx="10697818" cy="1672883"/>
          </a:xfrm>
        </p:spPr>
        <p:txBody>
          <a:bodyPr>
            <a:normAutofit/>
          </a:bodyPr>
          <a:lstStyle/>
          <a:p>
            <a:r>
              <a:rPr sz="6600" dirty="0" smtClean="0">
                <a:solidFill>
                  <a:schemeClr val="bg1"/>
                </a:solidFill>
                <a:latin typeface="Times New Roman" panose="02020603050405020304" pitchFamily="18" charset="0"/>
                <a:cs typeface="Times New Roman" panose="02020603050405020304" pitchFamily="18" charset="0"/>
              </a:rPr>
              <a:t>Budget</a:t>
            </a:r>
            <a:r>
              <a:rPr lang="fr-FR" sz="6600" dirty="0" smtClean="0">
                <a:solidFill>
                  <a:schemeClr val="bg1"/>
                </a:solidFill>
                <a:latin typeface="Times New Roman" panose="02020603050405020304" pitchFamily="18" charset="0"/>
                <a:cs typeface="Times New Roman" panose="02020603050405020304" pitchFamily="18" charset="0"/>
              </a:rPr>
              <a:t> </a:t>
            </a:r>
            <a:r>
              <a:rPr lang="fr-FR" sz="6600" dirty="0" err="1" smtClean="0">
                <a:solidFill>
                  <a:schemeClr val="bg1"/>
                </a:solidFill>
                <a:latin typeface="Times New Roman" panose="02020603050405020304" pitchFamily="18" charset="0"/>
                <a:cs typeface="Times New Roman" panose="02020603050405020304" pitchFamily="18" charset="0"/>
              </a:rPr>
              <a:t>Agapé</a:t>
            </a:r>
            <a:endParaRPr sz="6600" dirty="0">
              <a:solidFill>
                <a:schemeClr val="bg1"/>
              </a:solidFill>
              <a:latin typeface="Times New Roman" panose="02020603050405020304" pitchFamily="18" charset="0"/>
              <a:cs typeface="Times New Roman" panose="02020603050405020304" pitchFamily="18" charset="0"/>
            </a:endParaRPr>
          </a:p>
        </p:txBody>
      </p:sp>
      <p:sp>
        <p:nvSpPr>
          <p:cNvPr id="7" name="Subtitle 2"/>
          <p:cNvSpPr>
            <a:spLocks noGrp="1"/>
          </p:cNvSpPr>
          <p:nvPr>
            <p:ph type="subTitle" idx="1"/>
          </p:nvPr>
        </p:nvSpPr>
        <p:spPr>
          <a:xfrm>
            <a:off x="2604052" y="2941983"/>
            <a:ext cx="4684644" cy="622852"/>
          </a:xfrm>
        </p:spPr>
        <p:txBody>
          <a:bodyPr/>
          <a:lstStyle/>
          <a:p>
            <a:r>
              <a:rPr dirty="0" smtClean="0">
                <a:solidFill>
                  <a:srgbClr val="7030A0"/>
                </a:solidFill>
              </a:rPr>
              <a:t>pour </a:t>
            </a:r>
            <a:r>
              <a:rPr lang="fr-FR" dirty="0" smtClean="0">
                <a:solidFill>
                  <a:srgbClr val="7030A0"/>
                </a:solidFill>
              </a:rPr>
              <a:t>16</a:t>
            </a:r>
            <a:r>
              <a:rPr dirty="0" smtClean="0">
                <a:solidFill>
                  <a:srgbClr val="7030A0"/>
                </a:solidFill>
              </a:rPr>
              <a:t>0 </a:t>
            </a:r>
            <a:r>
              <a:rPr dirty="0" err="1">
                <a:solidFill>
                  <a:srgbClr val="7030A0"/>
                </a:solidFill>
              </a:rPr>
              <a:t>personnes</a:t>
            </a:r>
            <a:endParaRPr dirty="0">
              <a:solidFill>
                <a:srgbClr val="7030A0"/>
              </a:solidFill>
            </a:endParaRPr>
          </a:p>
        </p:txBody>
      </p:sp>
    </p:spTree>
    <p:extLst>
      <p:ext uri="{BB962C8B-B14F-4D97-AF65-F5344CB8AC3E}">
        <p14:creationId xmlns:p14="http://schemas.microsoft.com/office/powerpoint/2010/main" val="3529649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4" name="Google Shape;73;p13" descr="Une image contenant Graphique, graphisme, dessin, art&#10;&#10;Description générée automatiquement"/>
          <p:cNvPicPr/>
          <p:nvPr/>
        </p:nvPicPr>
        <p:blipFill rotWithShape="1">
          <a:blip r:embed="rId2">
            <a:alphaModFix/>
          </a:blip>
          <a:srcRect/>
          <a:stretch/>
        </p:blipFill>
        <p:spPr>
          <a:xfrm>
            <a:off x="492370" y="-98474"/>
            <a:ext cx="633046" cy="908323"/>
          </a:xfrm>
          <a:prstGeom prst="rect">
            <a:avLst/>
          </a:prstGeom>
          <a:noFill/>
          <a:ln>
            <a:noFill/>
          </a:ln>
        </p:spPr>
      </p:pic>
      <p:sp>
        <p:nvSpPr>
          <p:cNvPr id="5" name="Titre 1"/>
          <p:cNvSpPr txBox="1">
            <a:spLocks/>
          </p:cNvSpPr>
          <p:nvPr/>
        </p:nvSpPr>
        <p:spPr>
          <a:xfrm>
            <a:off x="1041010" y="355687"/>
            <a:ext cx="11235399" cy="464234"/>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fr-FR" sz="3600" b="1" u="sng" dirty="0">
                <a:solidFill>
                  <a:schemeClr val="bg1"/>
                </a:solidFill>
                <a:latin typeface="Times New Roman" panose="02020603050405020304" pitchFamily="18" charset="0"/>
                <a:cs typeface="Times New Roman" panose="02020603050405020304" pitchFamily="18" charset="0"/>
              </a:rPr>
              <a:t>Déroulement de la journée sur 4 heures (9h00 - 13h30)</a:t>
            </a:r>
          </a:p>
          <a:p>
            <a:r>
              <a:rPr lang="fr-FR" sz="4400" b="1" u="sng" dirty="0">
                <a:solidFill>
                  <a:schemeClr val="bg1"/>
                </a:solidFill>
                <a:latin typeface="Times New Roman" panose="02020603050405020304" pitchFamily="18" charset="0"/>
                <a:cs typeface="Times New Roman" panose="02020603050405020304" pitchFamily="18" charset="0"/>
              </a:rPr>
              <a:t> </a:t>
            </a:r>
            <a:r>
              <a:rPr lang="fr-FR" sz="1100" dirty="0">
                <a:solidFill>
                  <a:schemeClr val="bg1"/>
                </a:solidFill>
              </a:rPr>
              <a:t/>
            </a:r>
            <a:br>
              <a:rPr lang="fr-FR" sz="1100" dirty="0">
                <a:solidFill>
                  <a:schemeClr val="bg1"/>
                </a:solidFill>
              </a:rPr>
            </a:br>
            <a:endParaRPr lang="fr-FR" sz="600" dirty="0">
              <a:solidFill>
                <a:schemeClr val="bg1"/>
              </a:solidFill>
            </a:endParaRPr>
          </a:p>
        </p:txBody>
      </p:sp>
      <p:graphicFrame>
        <p:nvGraphicFramePr>
          <p:cNvPr id="6" name="Tableau 5"/>
          <p:cNvGraphicFramePr>
            <a:graphicFrameLocks noGrp="1"/>
          </p:cNvGraphicFramePr>
          <p:nvPr>
            <p:extLst>
              <p:ext uri="{D42A27DB-BD31-4B8C-83A1-F6EECF244321}">
                <p14:modId xmlns:p14="http://schemas.microsoft.com/office/powerpoint/2010/main" val="2259569316"/>
              </p:ext>
            </p:extLst>
          </p:nvPr>
        </p:nvGraphicFramePr>
        <p:xfrm>
          <a:off x="492370" y="809849"/>
          <a:ext cx="11699632" cy="5255269"/>
        </p:xfrm>
        <a:graphic>
          <a:graphicData uri="http://schemas.openxmlformats.org/drawingml/2006/table">
            <a:tbl>
              <a:tblPr firstRow="1" bandRow="1">
                <a:tableStyleId>{5C22544A-7EE6-4342-B048-85BDC9FD1C3A}</a:tableStyleId>
              </a:tblPr>
              <a:tblGrid>
                <a:gridCol w="1097282">
                  <a:extLst>
                    <a:ext uri="{9D8B030D-6E8A-4147-A177-3AD203B41FA5}">
                      <a16:colId xmlns:a16="http://schemas.microsoft.com/office/drawing/2014/main" val="2527729033"/>
                    </a:ext>
                  </a:extLst>
                </a:gridCol>
                <a:gridCol w="1055077">
                  <a:extLst>
                    <a:ext uri="{9D8B030D-6E8A-4147-A177-3AD203B41FA5}">
                      <a16:colId xmlns:a16="http://schemas.microsoft.com/office/drawing/2014/main" val="2909611426"/>
                    </a:ext>
                  </a:extLst>
                </a:gridCol>
                <a:gridCol w="2039816">
                  <a:extLst>
                    <a:ext uri="{9D8B030D-6E8A-4147-A177-3AD203B41FA5}">
                      <a16:colId xmlns:a16="http://schemas.microsoft.com/office/drawing/2014/main" val="3030989666"/>
                    </a:ext>
                  </a:extLst>
                </a:gridCol>
                <a:gridCol w="7507457">
                  <a:extLst>
                    <a:ext uri="{9D8B030D-6E8A-4147-A177-3AD203B41FA5}">
                      <a16:colId xmlns:a16="http://schemas.microsoft.com/office/drawing/2014/main" val="1259615076"/>
                    </a:ext>
                  </a:extLst>
                </a:gridCol>
              </a:tblGrid>
              <a:tr h="611668">
                <a:tc>
                  <a:txBody>
                    <a:bodyPr/>
                    <a:lstStyle/>
                    <a:p>
                      <a:r>
                        <a:rPr lang="fr-FR" sz="1600" b="1" dirty="0">
                          <a:latin typeface="Times New Roman" panose="02020603050405020304" pitchFamily="18" charset="0"/>
                          <a:cs typeface="Times New Roman" panose="02020603050405020304" pitchFamily="18" charset="0"/>
                        </a:rPr>
                        <a:t>Heure</a:t>
                      </a:r>
                    </a:p>
                  </a:txBody>
                  <a:tcPr/>
                </a:tc>
                <a:tc>
                  <a:txBody>
                    <a:bodyPr/>
                    <a:lstStyle/>
                    <a:p>
                      <a:r>
                        <a:rPr lang="fr-FR" sz="1600" b="1" dirty="0">
                          <a:latin typeface="Times New Roman" panose="02020603050405020304" pitchFamily="18" charset="0"/>
                          <a:cs typeface="Times New Roman" panose="02020603050405020304" pitchFamily="18" charset="0"/>
                        </a:rPr>
                        <a:t>Durée</a:t>
                      </a:r>
                    </a:p>
                  </a:txBody>
                  <a:tcPr/>
                </a:tc>
                <a:tc>
                  <a:txBody>
                    <a:bodyPr/>
                    <a:lstStyle/>
                    <a:p>
                      <a:r>
                        <a:rPr lang="fr-FR" sz="1600" dirty="0">
                          <a:latin typeface="Times New Roman" panose="02020603050405020304" pitchFamily="18" charset="0"/>
                          <a:cs typeface="Times New Roman" panose="02020603050405020304" pitchFamily="18" charset="0"/>
                        </a:rPr>
                        <a:t>Activité</a:t>
                      </a:r>
                    </a:p>
                  </a:txBody>
                  <a:tcPr/>
                </a:tc>
                <a:tc>
                  <a:txBody>
                    <a:bodyPr/>
                    <a:lstStyle/>
                    <a:p>
                      <a:r>
                        <a:rPr lang="fr-FR" sz="1600" dirty="0">
                          <a:latin typeface="Times New Roman" panose="02020603050405020304" pitchFamily="18" charset="0"/>
                          <a:cs typeface="Times New Roman" panose="02020603050405020304" pitchFamily="18" charset="0"/>
                        </a:rPr>
                        <a:t>Détail</a:t>
                      </a:r>
                    </a:p>
                  </a:txBody>
                  <a:tcPr/>
                </a:tc>
                <a:extLst>
                  <a:ext uri="{0D108BD9-81ED-4DB2-BD59-A6C34878D82A}">
                    <a16:rowId xmlns:a16="http://schemas.microsoft.com/office/drawing/2014/main" val="3290555521"/>
                  </a:ext>
                </a:extLst>
              </a:tr>
              <a:tr h="611668">
                <a:tc>
                  <a:txBody>
                    <a:bodyPr/>
                    <a:lstStyle/>
                    <a:p>
                      <a:r>
                        <a:rPr lang="fr-FR" sz="1600" dirty="0">
                          <a:latin typeface="Times New Roman" panose="02020603050405020304" pitchFamily="18" charset="0"/>
                          <a:cs typeface="Times New Roman" panose="02020603050405020304" pitchFamily="18" charset="0"/>
                        </a:rPr>
                        <a:t>9h00-9h30</a:t>
                      </a:r>
                    </a:p>
                  </a:txBody>
                  <a:tcPr/>
                </a:tc>
                <a:tc>
                  <a:txBody>
                    <a:bodyPr/>
                    <a:lstStyle/>
                    <a:p>
                      <a:r>
                        <a:rPr lang="fr-FR" sz="1600" dirty="0">
                          <a:latin typeface="Times New Roman" panose="02020603050405020304" pitchFamily="18" charset="0"/>
                          <a:cs typeface="Times New Roman" panose="02020603050405020304" pitchFamily="18" charset="0"/>
                        </a:rPr>
                        <a:t>30min</a:t>
                      </a:r>
                    </a:p>
                  </a:txBody>
                  <a:tcPr/>
                </a:tc>
                <a:tc>
                  <a:txBody>
                    <a:bodyPr/>
                    <a:lstStyle/>
                    <a:p>
                      <a:endParaRPr lang="fr-FR" sz="1600" b="1" dirty="0">
                        <a:latin typeface="Times New Roman" panose="02020603050405020304" pitchFamily="18" charset="0"/>
                        <a:cs typeface="Times New Roman" panose="02020603050405020304" pitchFamily="18" charset="0"/>
                      </a:endParaRPr>
                    </a:p>
                  </a:txBody>
                  <a:tcPr/>
                </a:tc>
                <a:tc>
                  <a:txBody>
                    <a:bodyPr/>
                    <a:lstStyle/>
                    <a:p>
                      <a:endParaRPr lang="fr-FR"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53941163"/>
                  </a:ext>
                </a:extLst>
              </a:tr>
              <a:tr h="1006141">
                <a:tc>
                  <a:txBody>
                    <a:bodyPr/>
                    <a:lstStyle/>
                    <a:p>
                      <a:r>
                        <a:rPr lang="fr-FR" sz="1600" dirty="0">
                          <a:latin typeface="Times New Roman" panose="02020603050405020304" pitchFamily="18" charset="0"/>
                          <a:cs typeface="Times New Roman" panose="02020603050405020304" pitchFamily="18" charset="0"/>
                        </a:rPr>
                        <a:t>9h30-10h30</a:t>
                      </a:r>
                    </a:p>
                  </a:txBody>
                  <a:tcPr/>
                </a:tc>
                <a:tc>
                  <a:txBody>
                    <a:bodyPr/>
                    <a:lstStyle/>
                    <a:p>
                      <a:r>
                        <a:rPr lang="fr-FR" sz="1600" dirty="0">
                          <a:latin typeface="Times New Roman" panose="02020603050405020304" pitchFamily="18" charset="0"/>
                          <a:cs typeface="Times New Roman" panose="02020603050405020304" pitchFamily="18" charset="0"/>
                        </a:rPr>
                        <a:t>60min</a:t>
                      </a:r>
                    </a:p>
                  </a:txBody>
                  <a:tcPr/>
                </a:tc>
                <a:tc>
                  <a:txBody>
                    <a:bodyPr/>
                    <a:lstStyle/>
                    <a:p>
                      <a:endParaRPr lang="fr-FR" sz="1600" b="1" dirty="0">
                        <a:effectLst/>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endParaRPr lang="fr-FR" sz="1200" dirty="0">
                        <a:effectLs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97387535"/>
                  </a:ext>
                </a:extLst>
              </a:tr>
              <a:tr h="611668">
                <a:tc>
                  <a:txBody>
                    <a:bodyPr/>
                    <a:lstStyle/>
                    <a:p>
                      <a:r>
                        <a:rPr lang="fr-FR" sz="1600" dirty="0">
                          <a:latin typeface="Times New Roman" panose="02020603050405020304" pitchFamily="18" charset="0"/>
                          <a:cs typeface="Times New Roman" panose="02020603050405020304" pitchFamily="18" charset="0"/>
                        </a:rPr>
                        <a:t>10h30-10h50</a:t>
                      </a:r>
                    </a:p>
                  </a:txBody>
                  <a:tcPr/>
                </a:tc>
                <a:tc>
                  <a:txBody>
                    <a:bodyPr/>
                    <a:lstStyle/>
                    <a:p>
                      <a:r>
                        <a:rPr lang="fr-FR" sz="1600" dirty="0">
                          <a:latin typeface="Times New Roman" panose="02020603050405020304" pitchFamily="18" charset="0"/>
                          <a:cs typeface="Times New Roman" panose="02020603050405020304" pitchFamily="18" charset="0"/>
                        </a:rPr>
                        <a:t>10min</a:t>
                      </a:r>
                    </a:p>
                  </a:txBody>
                  <a:tcPr/>
                </a:tc>
                <a:tc>
                  <a:txBody>
                    <a:bodyPr/>
                    <a:lstStyle/>
                    <a:p>
                      <a:endParaRPr lang="fr-FR" sz="1600" b="1" dirty="0">
                        <a:latin typeface="Times New Roman" panose="02020603050405020304" pitchFamily="18" charset="0"/>
                        <a:cs typeface="Times New Roman" panose="02020603050405020304" pitchFamily="18" charset="0"/>
                      </a:endParaRPr>
                    </a:p>
                  </a:txBody>
                  <a:tcPr/>
                </a:tc>
                <a:tc>
                  <a:txBody>
                    <a:bodyPr/>
                    <a:lstStyle/>
                    <a:p>
                      <a:endParaRPr lang="fr-FR" sz="1600" dirty="0">
                        <a:effectLst/>
                      </a:endParaRPr>
                    </a:p>
                  </a:txBody>
                  <a:tcPr/>
                </a:tc>
                <a:extLst>
                  <a:ext uri="{0D108BD9-81ED-4DB2-BD59-A6C34878D82A}">
                    <a16:rowId xmlns:a16="http://schemas.microsoft.com/office/drawing/2014/main" val="3450108719"/>
                  </a:ext>
                </a:extLst>
              </a:tr>
              <a:tr h="611668">
                <a:tc>
                  <a:txBody>
                    <a:bodyPr/>
                    <a:lstStyle/>
                    <a:p>
                      <a:r>
                        <a:rPr lang="fr-FR" sz="1600" dirty="0">
                          <a:latin typeface="Times New Roman" panose="02020603050405020304" pitchFamily="18" charset="0"/>
                          <a:cs typeface="Times New Roman" panose="02020603050405020304" pitchFamily="18" charset="0"/>
                        </a:rPr>
                        <a:t>10h50-11h20</a:t>
                      </a:r>
                    </a:p>
                  </a:txBody>
                  <a:tcPr/>
                </a:tc>
                <a:tc>
                  <a:txBody>
                    <a:bodyPr/>
                    <a:lstStyle/>
                    <a:p>
                      <a:r>
                        <a:rPr lang="fr-FR" sz="1600" dirty="0">
                          <a:latin typeface="Times New Roman" panose="02020603050405020304" pitchFamily="18" charset="0"/>
                          <a:cs typeface="Times New Roman" panose="02020603050405020304" pitchFamily="18" charset="0"/>
                        </a:rPr>
                        <a:t>30min</a:t>
                      </a:r>
                    </a:p>
                  </a:txBody>
                  <a:tcPr/>
                </a:tc>
                <a:tc>
                  <a:txBody>
                    <a:bodyPr/>
                    <a:lstStyle/>
                    <a:p>
                      <a:endParaRPr lang="fr-FR" sz="1600" b="1" dirty="0">
                        <a:effectLst/>
                        <a:latin typeface="Times New Roman" panose="02020603050405020304" pitchFamily="18" charset="0"/>
                        <a:cs typeface="Times New Roman" panose="02020603050405020304" pitchFamily="18" charset="0"/>
                      </a:endParaRPr>
                    </a:p>
                  </a:txBody>
                  <a:tcPr/>
                </a:tc>
                <a:tc>
                  <a:txBody>
                    <a:bodyPr/>
                    <a:lstStyle/>
                    <a:p>
                      <a:endParaRPr lang="fr-FR" sz="1200" b="1" dirty="0">
                        <a:effectLs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593128"/>
                  </a:ext>
                </a:extLst>
              </a:tr>
              <a:tr h="611668">
                <a:tc>
                  <a:txBody>
                    <a:bodyPr/>
                    <a:lstStyle/>
                    <a:p>
                      <a:r>
                        <a:rPr lang="fr-FR" sz="1600" dirty="0">
                          <a:latin typeface="Times New Roman" panose="02020603050405020304" pitchFamily="18" charset="0"/>
                          <a:cs typeface="Times New Roman" panose="02020603050405020304" pitchFamily="18" charset="0"/>
                        </a:rPr>
                        <a:t>11h20-12h20</a:t>
                      </a:r>
                    </a:p>
                  </a:txBody>
                  <a:tcPr/>
                </a:tc>
                <a:tc>
                  <a:txBody>
                    <a:bodyPr/>
                    <a:lstStyle/>
                    <a:p>
                      <a:r>
                        <a:rPr lang="fr-FR" sz="1600" dirty="0">
                          <a:latin typeface="Times New Roman" panose="02020603050405020304" pitchFamily="18" charset="0"/>
                          <a:cs typeface="Times New Roman" panose="02020603050405020304" pitchFamily="18" charset="0"/>
                        </a:rPr>
                        <a:t>60min</a:t>
                      </a:r>
                    </a:p>
                  </a:txBody>
                  <a:tcPr/>
                </a:tc>
                <a:tc>
                  <a:txBody>
                    <a:bodyPr/>
                    <a:lstStyle/>
                    <a:p>
                      <a:endParaRPr lang="fr-FR" sz="1600" b="1" dirty="0">
                        <a:effectLst/>
                      </a:endParaRPr>
                    </a:p>
                  </a:txBody>
                  <a:tcPr/>
                </a:tc>
                <a:tc>
                  <a:txBody>
                    <a:bodyPr/>
                    <a:lstStyle/>
                    <a:p>
                      <a:endParaRPr lang="fr-FR" sz="1600" dirty="0">
                        <a:effectLst/>
                      </a:endParaRPr>
                    </a:p>
                  </a:txBody>
                  <a:tcPr/>
                </a:tc>
                <a:extLst>
                  <a:ext uri="{0D108BD9-81ED-4DB2-BD59-A6C34878D82A}">
                    <a16:rowId xmlns:a16="http://schemas.microsoft.com/office/drawing/2014/main" val="3996939742"/>
                  </a:ext>
                </a:extLst>
              </a:tr>
              <a:tr h="611668">
                <a:tc>
                  <a:txBody>
                    <a:bodyPr/>
                    <a:lstStyle/>
                    <a:p>
                      <a:r>
                        <a:rPr lang="fr-FR" sz="1600" dirty="0">
                          <a:latin typeface="Times New Roman" panose="02020603050405020304" pitchFamily="18" charset="0"/>
                          <a:cs typeface="Times New Roman" panose="02020603050405020304" pitchFamily="18" charset="0"/>
                        </a:rPr>
                        <a:t>12h20-13h00</a:t>
                      </a:r>
                    </a:p>
                  </a:txBody>
                  <a:tcPr/>
                </a:tc>
                <a:tc>
                  <a:txBody>
                    <a:bodyPr/>
                    <a:lstStyle/>
                    <a:p>
                      <a:r>
                        <a:rPr lang="fr-FR" sz="1600" dirty="0">
                          <a:latin typeface="Times New Roman" panose="02020603050405020304" pitchFamily="18" charset="0"/>
                          <a:cs typeface="Times New Roman" panose="02020603050405020304" pitchFamily="18" charset="0"/>
                        </a:rPr>
                        <a:t>40min</a:t>
                      </a:r>
                    </a:p>
                  </a:txBody>
                  <a:tcPr/>
                </a:tc>
                <a:tc>
                  <a:txBody>
                    <a:bodyPr/>
                    <a:lstStyle/>
                    <a:p>
                      <a:endParaRPr lang="fr-FR" sz="1600" b="1" dirty="0">
                        <a:effectLst/>
                      </a:endParaRPr>
                    </a:p>
                  </a:txBody>
                  <a:tcPr/>
                </a:tc>
                <a:tc>
                  <a:txBody>
                    <a:bodyPr/>
                    <a:lstStyle/>
                    <a:p>
                      <a:endParaRPr lang="fr-FR"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91774582"/>
                  </a:ext>
                </a:extLst>
              </a:tr>
              <a:tr h="310620">
                <a:tc>
                  <a:txBody>
                    <a:bodyPr/>
                    <a:lstStyle/>
                    <a:p>
                      <a:r>
                        <a:rPr lang="fr-FR" sz="1600" dirty="0">
                          <a:latin typeface="Times New Roman" panose="02020603050405020304" pitchFamily="18" charset="0"/>
                          <a:cs typeface="Times New Roman" panose="02020603050405020304" pitchFamily="18" charset="0"/>
                        </a:rPr>
                        <a:t>13h00-13h30</a:t>
                      </a:r>
                    </a:p>
                  </a:txBody>
                  <a:tcPr/>
                </a:tc>
                <a:tc>
                  <a:txBody>
                    <a:bodyPr/>
                    <a:lstStyle/>
                    <a:p>
                      <a:r>
                        <a:rPr lang="fr-FR" sz="1600" dirty="0">
                          <a:latin typeface="Times New Roman" panose="02020603050405020304" pitchFamily="18" charset="0"/>
                          <a:cs typeface="Times New Roman" panose="02020603050405020304" pitchFamily="18" charset="0"/>
                        </a:rPr>
                        <a:t>30 min</a:t>
                      </a:r>
                    </a:p>
                  </a:txBody>
                  <a:tcPr/>
                </a:tc>
                <a:tc>
                  <a:txBody>
                    <a:bodyPr/>
                    <a:lstStyle/>
                    <a:p>
                      <a:endParaRPr lang="fr-FR" sz="1600" b="1" dirty="0">
                        <a:effectLst/>
                      </a:endParaRPr>
                    </a:p>
                  </a:txBody>
                  <a:tcPr/>
                </a:tc>
                <a:tc>
                  <a:txBody>
                    <a:bodyPr/>
                    <a:lstStyle/>
                    <a:p>
                      <a:endParaRPr lang="fr-FR" sz="1600" dirty="0">
                        <a:effectLst/>
                      </a:endParaRPr>
                    </a:p>
                  </a:txBody>
                  <a:tcPr/>
                </a:tc>
                <a:extLst>
                  <a:ext uri="{0D108BD9-81ED-4DB2-BD59-A6C34878D82A}">
                    <a16:rowId xmlns:a16="http://schemas.microsoft.com/office/drawing/2014/main" val="3097979490"/>
                  </a:ext>
                </a:extLst>
              </a:tr>
            </a:tbl>
          </a:graphicData>
        </a:graphic>
      </p:graphicFrame>
    </p:spTree>
    <p:extLst>
      <p:ext uri="{BB962C8B-B14F-4D97-AF65-F5344CB8AC3E}">
        <p14:creationId xmlns:p14="http://schemas.microsoft.com/office/powerpoint/2010/main" val="30502555"/>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TM03457515[[fn=Vue]]</Template>
  <TotalTime>470</TotalTime>
  <Words>332</Words>
  <Application>Microsoft Office PowerPoint</Application>
  <PresentationFormat>Grand écran</PresentationFormat>
  <Paragraphs>50</Paragraphs>
  <Slides>9</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9</vt:i4>
      </vt:variant>
    </vt:vector>
  </HeadingPairs>
  <TitlesOfParts>
    <vt:vector size="16" baseType="lpstr">
      <vt:lpstr>Arial</vt:lpstr>
      <vt:lpstr>Century Schoolbook</vt:lpstr>
      <vt:lpstr>Century Schoolbook (En-têtes)</vt:lpstr>
      <vt:lpstr>Times New Roman</vt:lpstr>
      <vt:lpstr>Wingdings</vt:lpstr>
      <vt:lpstr>Wingdings 2</vt:lpstr>
      <vt:lpstr>View</vt:lpstr>
      <vt:lpstr>Centre Talibou Dabo de Grand-Yoff</vt:lpstr>
      <vt:lpstr>Centre Talibou Dabo Yoff vers l’hôpital avant la zone de captage  Contact: Mr Faye  Nombre d’enfants: Prescolaire: 83 élèves   Primaibre: 65Unité spéciale pour les handicapés lourd (ex: IMC): 12  Total: 160 pour l’année 2024'2025  Acticité et besoin : Dons de jouets pour l’arbre de Noël qu'il organise annuellement </vt:lpstr>
      <vt:lpstr> Situé à Grand Yoff, Le Centre Talibou Dabo (CTD) est une institution publique d’éducation et de réadaptation pour enfants handicapés physiques. Il a été conçu par le professeur Idrissa Pouye et a été réalisé et équipé par la Fondation Nationale d’Action Sociale du Sénégal (FNASS) en 1981.  La mission du Centre Talibou Dabo est constituée par la réalisation d’un certain nombre d’objectifs vitaux : - Participer à la réalisation de la politique d’intégration socio-économique des personnes handicapées physiques, de la manière la plus harmonieuse possible - Prendre en charge les enfants handicapés moteurs dans les domaines éducationnel, social et de la réadaptation fonctionnelle. Le Centre Talibou Dabo est composé de : - Un Médecin Rééducateur, Directeur du Centre - Deux kinésithérapeutes - Six aide-kiné - Deux assistantes sociales - Deux techniciens orthopédistes - Un enseignant Directeur de l’école élémentaire - Quatre enseignants du Primaire - Quatre éducateurs Préscolaires </vt:lpstr>
      <vt:lpstr>Photo du Centre  Talibu Dobo</vt:lpstr>
      <vt:lpstr>Présentation PowerPoint</vt:lpstr>
      <vt:lpstr>Budget Don – Pack Cadeau</vt:lpstr>
      <vt:lpstr>Présentation PowerPoint</vt:lpstr>
      <vt:lpstr>Budget Agapé</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Centre polyvalent de Keur Massar zone de recasement</dc:title>
  <dc:creator>hp</dc:creator>
  <cp:lastModifiedBy>hp</cp:lastModifiedBy>
  <cp:revision>29</cp:revision>
  <dcterms:created xsi:type="dcterms:W3CDTF">2025-08-13T21:14:19Z</dcterms:created>
  <dcterms:modified xsi:type="dcterms:W3CDTF">2025-08-28T20:50:44Z</dcterms:modified>
</cp:coreProperties>
</file>